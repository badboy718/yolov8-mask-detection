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10.jpg" ContentType="image/jpg"/>
  <Override PartName="/ppt/media/image2.jpg" ContentType="image/jpg"/>
  <Override PartName="/ppt/media/image4.jpg" ContentType="image/jpg"/>
  <Override PartName="/ppt/media/image5.jpg" ContentType="image/jpg"/>
  <Override PartName="/ppt/media/image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72" r:id="rId23"/>
    <p:sldId id="263" r:id="rId10"/>
    <p:sldId id="264" r:id="rId11"/>
    <p:sldId id="273" r:id="rId24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9.xml"/><Relationship Id="rId24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39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老师好，我是刘淏荣，学号 202411009111。今天汇报基于 YOLOv8 的口罩佩戴检测系统。项目不大，重点是把数据、训练、调参、部署和网页演示这条流程走完，每一步都能拿出来看。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不用分类模型？分类只能给整张图一个标签。一张图里可能有好几个人，我需要知道每个人在哪、谁没戴。所以这是目标检测，输出每个目标的框、类别和置信度。难点主要是多目标、小目标、遮挡和类别不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项目分五部分：数据准备、本地训练、GPU 调参、导出部署和网页演示。每一部分一个独立脚本，可以单独运行。后面我就按这五步讲，最后给出本地和调整后的指标。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任务定下来，第一件事是准备数据。这页代码做三件事：图片和标签按同名配对，固定 seed=42 打乱，再按 8:1:1 切成 1084、135、137 张。右边是 YOLO 标签格式，一行一个目标，前面是类别，后面是中心点和宽高，全部归一化到 0 到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数据有了，下一步选模型。YOLOv8n 是单阶段检测，图片进网络后先经过 Backbone 提特征，再由 Neck 把 P3、P4、P5 三个尺度的特征融合起来，最后 Head 输出每个目标的框和类别。3.0M 参数、8.7 GFLOPs，选 n 是因为 CPU 能跑得动。右边是迁移学习，COCO 的 80 类检测头会自动换成 mask 和 no-mask 两类。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模型定下来，开始训练。脚本主要设置四个参数：data 指向 data.yaml，epochs 是 100 轮，batch 是 16，imgsz 是 640。加载预训练权重时，检测头会自动从 80 类改成 2 类。每轮大约 220 秒，最后输出 best.pt、results.png 和混淆矩阵。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训练完看结果。图里横轴是 epoch：左边绿线是 mAP@50，蓝线是 mAP@50-95；右边是 precision 和 recall。50 轮后曲线基本走平，mAP@50 最高 0.8931 在第 87 轮，mAP@50-95 最高 0.5959 在第 73 轮，所以用 best.pt。下一页我把曲线和 mAP 展开讲。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结果出来后做调参。三组都在 T4 上训练 50 轮，只看一个变量：第一组基线，第二组把学习率从 0.01 降到 0.001，第三组关掉 Mosaic。表里三行就是这三组，右边代码就是训练配置。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看三组结果。图里横轴是 mAP@50，从 0.880 到 0.900，三个点是三组的最好成绩。基线 0.8973，学习率 0.001 是 0.8853，关掉 Mosaic 是 0.8899，三组只差 1.2 个百分点。下面的代码就是取每个 results.csv 里 mAP 最高的那一行。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调参之后把模型导出部署。左边代码把 best.pt 导出成 ONNX，流程是 best.pt 到 best.onnx，再到 onnxruntime。模型 12.2 MB，CPU 上 14.9 FPS、67 毫秒一张，5 张测试图都检测成功。但这个速度还不到实时视频。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部署完做网页演示。左边是实际页面，右边是四步流程：选图、加载模型、推理、展示。这里有两个实现细节：模型用 cache_resource 缓存，并在加载时做一次预热，所以冷启动约 6 秒，之后单张约 80 毫秒；输入直接传 PIL，显示前把 plot 的 BGR 转成 RGB。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这是实际检测结果。三张都是测试集图片，训练时没见过。框上标了类别和置信度，页面会统计戴口罩和未戴口罩数量。现场这张图是 8 个戴口罩、1 个没戴，单张 74 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总结一下：本地 0.893，调参后 0.897，ONNX 12.2 MB，CPU 14.9 FPS，网页单张 74 毫秒。项目完成了数据、训练、调参、导出和网页演示这条完整流程。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不足有三个：数据场景单一，侧脸、遮挡、暗光样本不够；CPU 速度还不到实时；目前只做静态图片。下一步先补困难样本，再做 INT8 量化，最后考虑视频流。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我的汇报到这里。谢谢老师，请老师批评指正。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数据集来自 Kaggle 的 Face Mask Detection，OpenCV University 版本。页面上能看到一共 2712 个文件、1356 个样本，图片和同名 txt 标签一一对应，许可证是 LGPL。下载后放到 data/archive，下面一页就是用脚本按 8:1:1 划分。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这一页有三组图，点击依次切换。第一张是训练曲线：横轴 epoch，上排训练、下排验证；左边三个 loss 应该下降，右边 precision、recall、mAP 应该上升，50 轮以后基本走平。mAP@50 是先把预测框和真实框的 IoU 算出来，IoU 大于 0.5 算正确，再对每个类别算 PR 曲线下的 AP，两个类别取平均；它不依赖固定置信度，适合比较模型和轮次，mAP@50-95 则更严格地看框得准不准。第二张是 16 张测试图的检测结果，正脸近景基本正确，人群密集、侧脸、遮挡会有重复框和漏检。第三张是 PyCharm 里 runs/detect/train 的输出目录，里面有 best.pt、last.pt、results.csv、曲线和混淆矩阵，best.pt 是按验证集 mAP 选的。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调参是在 Google Colab 的 T4 上跑的。截图里是 exp1 的训练代码和日志：data 指向 Drive 里的 data.yaml，50 轮，batch 16，imgsz 640，学习率 0.01，SGD，Mosaic 开启。Colab 的 /content 断线会清空，所以数据集和结果都放 Drive；跑完把 results.csv 和权重下载回本地比较。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13070\Documents\Python_study\school_project\yolo_v8_project\期末汇报_PPT\ppt_assets\cover_photo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pic>
        <p:nvPicPr>
          <p:cNvPr id="4" name="Image 2" descr="C:\Users\13070\Documents\Python_study\school_project\yolo_v8_project\期末汇报_PPT\ppt_assets\cover_f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0"/>
            <a:ext cx="2651760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086600" y="5943600"/>
            <a:ext cx="5102352" cy="914400"/>
          </a:xfrm>
          <a:prstGeom prst="rect">
            <a:avLst/>
          </a:prstGeom>
          <a:solidFill>
            <a:srgbClr val="070C14">
              <a:alpha val="82000"/>
            </a:srgbClr>
          </a:solidFill>
          <a:ln w="12700">
            <a:solidFill>
              <a:srgbClr val="070C1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713232" y="56692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2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FINAL PROJECT  /  2026</a:t>
            </a:r>
            <a:endParaRPr lang="en-US" sz="900" dirty="0"/>
          </a:p>
        </p:txBody>
      </p:sp>
      <p:sp>
        <p:nvSpPr>
          <p:cNvPr id="7" name="Shape 2"/>
          <p:cNvSpPr/>
          <p:nvPr/>
        </p:nvSpPr>
        <p:spPr>
          <a:xfrm>
            <a:off x="713232" y="896112"/>
            <a:ext cx="502920" cy="22860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8" name="Text 3"/>
          <p:cNvSpPr/>
          <p:nvPr/>
        </p:nvSpPr>
        <p:spPr>
          <a:xfrm>
            <a:off x="676656" y="135331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口罩佩戴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676656" y="217627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检测系统</a:t>
            </a:r>
            <a:endParaRPr lang="en-US" sz="5400" dirty="0"/>
          </a:p>
        </p:txBody>
      </p:sp>
      <p:sp>
        <p:nvSpPr>
          <p:cNvPr id="10" name="Text 5"/>
          <p:cNvSpPr/>
          <p:nvPr/>
        </p:nvSpPr>
        <p:spPr>
          <a:xfrm>
            <a:off x="713232" y="318211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YOLOv8 的目标检测与部署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13232" y="3822192"/>
            <a:ext cx="960120" cy="283464"/>
          </a:xfrm>
          <a:prstGeom prst="roundRect">
            <a:avLst>
              <a:gd name="adj" fmla="val 41935"/>
            </a:avLst>
          </a:prstGeom>
          <a:solidFill>
            <a:srgbClr val="38E8C6">
              <a:alpha val="12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713232" y="3822192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YOLOv8n</a:t>
            </a:r>
            <a:endParaRPr lang="en-US" sz="840" dirty="0"/>
          </a:p>
        </p:txBody>
      </p:sp>
      <p:sp>
        <p:nvSpPr>
          <p:cNvPr id="13" name="Shape 8"/>
          <p:cNvSpPr/>
          <p:nvPr/>
        </p:nvSpPr>
        <p:spPr>
          <a:xfrm>
            <a:off x="1792224" y="3822192"/>
            <a:ext cx="1783080" cy="283464"/>
          </a:xfrm>
          <a:prstGeom prst="roundRect">
            <a:avLst>
              <a:gd name="adj" fmla="val 41935"/>
            </a:avLst>
          </a:prstGeom>
          <a:solidFill>
            <a:srgbClr val="6C9BFF">
              <a:alpha val="12000"/>
            </a:srgbClr>
          </a:solidFill>
          <a:ln w="7620">
            <a:solidFill>
              <a:srgbClr val="6C9B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1792224" y="382219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Runtime</a:t>
            </a:r>
            <a:endParaRPr lang="en-US" sz="840" dirty="0"/>
          </a:p>
        </p:txBody>
      </p:sp>
      <p:sp>
        <p:nvSpPr>
          <p:cNvPr id="15" name="Shape 10"/>
          <p:cNvSpPr/>
          <p:nvPr/>
        </p:nvSpPr>
        <p:spPr>
          <a:xfrm>
            <a:off x="3694176" y="3822192"/>
            <a:ext cx="1700784" cy="283464"/>
          </a:xfrm>
          <a:prstGeom prst="roundRect">
            <a:avLst>
              <a:gd name="adj" fmla="val 41935"/>
            </a:avLst>
          </a:prstGeom>
          <a:solidFill>
            <a:srgbClr val="C69BFF">
              <a:alpha val="12000"/>
            </a:srgbClr>
          </a:solidFill>
          <a:ln w="7620">
            <a:solidFill>
              <a:srgbClr val="C69B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3694176" y="3822192"/>
            <a:ext cx="17007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</a:t>
            </a:r>
            <a:endParaRPr lang="en-US" sz="840" dirty="0"/>
          </a:p>
        </p:txBody>
      </p:sp>
      <p:sp>
        <p:nvSpPr>
          <p:cNvPr id="17" name="Text 12"/>
          <p:cNvSpPr/>
          <p:nvPr/>
        </p:nvSpPr>
        <p:spPr>
          <a:xfrm>
            <a:off x="713232" y="49834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  刘淏荣  ·  小组成员  姜瑞洋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13232" y="52578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202411009111  ·  人工智能软件开发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13232" y="55321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2026 年 10 月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589520" y="530352"/>
            <a:ext cx="1417320" cy="274320"/>
          </a:xfrm>
          <a:prstGeom prst="roundRect">
            <a:avLst>
              <a:gd name="adj" fmla="val 43333"/>
            </a:avLst>
          </a:prstGeom>
          <a:solidFill>
            <a:srgbClr val="38E8C6">
              <a:alpha val="18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7589520" y="530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LIVE INFERENCE</a:t>
            </a:r>
            <a:endParaRPr lang="en-US" sz="740" dirty="0"/>
          </a:p>
        </p:txBody>
      </p:sp>
      <p:sp>
        <p:nvSpPr>
          <p:cNvPr id="22" name="Text 17"/>
          <p:cNvSpPr/>
          <p:nvPr/>
        </p:nvSpPr>
        <p:spPr>
          <a:xfrm>
            <a:off x="9372600" y="5577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kern="0" spc="110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CPU  /  14.9 FPS</a:t>
            </a:r>
            <a:endParaRPr lang="en-US" sz="780" dirty="0"/>
          </a:p>
        </p:txBody>
      </p:sp>
      <p:sp>
        <p:nvSpPr>
          <p:cNvPr id="23" name="Text 18"/>
          <p:cNvSpPr/>
          <p:nvPr/>
        </p:nvSpPr>
        <p:spPr>
          <a:xfrm>
            <a:off x="7635240" y="5779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kern="0" spc="15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mAP@50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7635240" y="5971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0.897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326880" y="6053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classes  ·  mask / no-mask</a:t>
            </a:r>
            <a:endParaRPr lang="en-US" sz="78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accel="50000" decel="5000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TASK  /  01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任务说明：检测每张图中的口罩目标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输入一张图片，输出每个目标的边界框、类别和置信度。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19072"/>
            <a:ext cx="3931920" cy="4187952"/>
          </a:xfrm>
          <a:prstGeom prst="roundRect">
            <a:avLst>
              <a:gd name="adj" fmla="val 1628"/>
            </a:avLst>
          </a:prstGeom>
          <a:solidFill>
            <a:srgbClr val="0D1727"/>
          </a:solidFill>
          <a:ln w="10160">
            <a:solidFill>
              <a:srgbClr val="2C4163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5" name="Image 1" descr="C:\Users\13070\Documents\Python_study\school_project\yolo_v8_project\期末汇报_PPT\ppt_assets\gallery_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664" y="1801368"/>
            <a:ext cx="3767328" cy="3767328"/>
          </a:xfrm>
          <a:prstGeom prst="ellipse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41248" y="1901952"/>
            <a:ext cx="1078992" cy="228600"/>
          </a:xfrm>
          <a:prstGeom prst="roundRect">
            <a:avLst>
              <a:gd name="adj" fmla="val 52000"/>
            </a:avLst>
          </a:prstGeom>
          <a:solidFill>
            <a:srgbClr val="38E8C6">
              <a:alpha val="22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41248" y="190195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 /  RGB</a:t>
            </a:r>
            <a:endParaRPr lang="en-US" sz="720" dirty="0"/>
          </a:p>
        </p:txBody>
      </p:sp>
      <p:sp>
        <p:nvSpPr>
          <p:cNvPr id="18" name="Text 14"/>
          <p:cNvSpPr/>
          <p:nvPr/>
        </p:nvSpPr>
        <p:spPr>
          <a:xfrm>
            <a:off x="749808" y="5669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一张图里可能有多个目标，也可能没有目标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5047488" y="17556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任务定义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5047488" y="20391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EAF2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f(I)  →  { (x₁, y₁, x₂, y₂, c, p) }</a:t>
            </a:r>
            <a:endParaRPr lang="en-US" sz="2300" dirty="0"/>
          </a:p>
        </p:txBody>
      </p:sp>
      <p:sp>
        <p:nvSpPr>
          <p:cNvPr id="21" name="Text 17"/>
          <p:cNvSpPr/>
          <p:nvPr/>
        </p:nvSpPr>
        <p:spPr>
          <a:xfrm>
            <a:off x="5047488" y="25786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个目标  ·  2 个类别  ·  一次前向推理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047488" y="2971800"/>
            <a:ext cx="3017520" cy="1115568"/>
          </a:xfrm>
          <a:prstGeom prst="roundRect">
            <a:avLst>
              <a:gd name="adj" fmla="val 5738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5230368" y="3090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WHERE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230368" y="3310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边界框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230368" y="36027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(x₁, y₁) 左上角</a:t>
            </a:r>
            <a:endParaRPr lang="en-US" sz="84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(x₂, y₂) 右下角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8247888" y="2971800"/>
            <a:ext cx="3017520" cy="1115568"/>
          </a:xfrm>
          <a:prstGeom prst="roundRect">
            <a:avLst>
              <a:gd name="adj" fmla="val 5738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8430768" y="3090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6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430768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 + 置信度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430768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/ no-mask</a:t>
            </a:r>
            <a:endParaRPr lang="en-US" sz="84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∈ [0, 1]</a:t>
            </a:r>
            <a:endParaRPr lang="en-US" sz="840" dirty="0"/>
          </a:p>
        </p:txBody>
      </p:sp>
      <p:sp>
        <p:nvSpPr>
          <p:cNvPr id="30" name="Text 26"/>
          <p:cNvSpPr/>
          <p:nvPr/>
        </p:nvSpPr>
        <p:spPr>
          <a:xfrm>
            <a:off x="5047488" y="4325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47488" y="4572000"/>
            <a:ext cx="914400" cy="274320"/>
          </a:xfrm>
          <a:prstGeom prst="roundRect">
            <a:avLst>
              <a:gd name="adj" fmla="val 43333"/>
            </a:avLst>
          </a:prstGeom>
          <a:solidFill>
            <a:srgbClr val="38E8C6">
              <a:alpha val="11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5047488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多目标</a:t>
            </a:r>
            <a:endParaRPr lang="en-US" sz="820" dirty="0"/>
          </a:p>
        </p:txBody>
      </p:sp>
      <p:sp>
        <p:nvSpPr>
          <p:cNvPr id="33" name="Shape 29"/>
          <p:cNvSpPr/>
          <p:nvPr/>
        </p:nvSpPr>
        <p:spPr>
          <a:xfrm>
            <a:off x="6071616" y="4572000"/>
            <a:ext cx="914400" cy="274320"/>
          </a:xfrm>
          <a:prstGeom prst="roundRect">
            <a:avLst>
              <a:gd name="adj" fmla="val 43333"/>
            </a:avLst>
          </a:prstGeom>
          <a:solidFill>
            <a:srgbClr val="6C9BFF">
              <a:alpha val="11000"/>
            </a:srgbClr>
          </a:solidFill>
          <a:ln w="7620">
            <a:solidFill>
              <a:srgbClr val="6C9B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6071616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小目标</a:t>
            </a:r>
            <a:endParaRPr lang="en-US" sz="820" dirty="0"/>
          </a:p>
        </p:txBody>
      </p:sp>
      <p:sp>
        <p:nvSpPr>
          <p:cNvPr id="35" name="Shape 31"/>
          <p:cNvSpPr/>
          <p:nvPr/>
        </p:nvSpPr>
        <p:spPr>
          <a:xfrm>
            <a:off x="7095744" y="4572000"/>
            <a:ext cx="1298448" cy="274320"/>
          </a:xfrm>
          <a:prstGeom prst="roundRect">
            <a:avLst>
              <a:gd name="adj" fmla="val 43333"/>
            </a:avLst>
          </a:prstGeom>
          <a:solidFill>
            <a:srgbClr val="F2B36B">
              <a:alpha val="11000"/>
            </a:srgbClr>
          </a:solidFill>
          <a:ln w="7620">
            <a:solidFill>
              <a:srgbClr val="F2B36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7095744" y="45720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遮挡 / 侧脸</a:t>
            </a:r>
            <a:endParaRPr lang="en-US" sz="820" dirty="0"/>
          </a:p>
        </p:txBody>
      </p:sp>
      <p:sp>
        <p:nvSpPr>
          <p:cNvPr id="37" name="Shape 33"/>
          <p:cNvSpPr/>
          <p:nvPr/>
        </p:nvSpPr>
        <p:spPr>
          <a:xfrm>
            <a:off x="8503920" y="4572000"/>
            <a:ext cx="1325880" cy="274320"/>
          </a:xfrm>
          <a:prstGeom prst="roundRect">
            <a:avLst>
              <a:gd name="adj" fmla="val 43333"/>
            </a:avLst>
          </a:prstGeom>
          <a:solidFill>
            <a:srgbClr val="C69BFF">
              <a:alpha val="11000"/>
            </a:srgbClr>
          </a:solidFill>
          <a:ln w="7620">
            <a:solidFill>
              <a:srgbClr val="C69B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8503920" y="4572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类别不平衡</a:t>
            </a:r>
            <a:endParaRPr lang="en-US" sz="820" dirty="0"/>
          </a:p>
        </p:txBody>
      </p:sp>
      <p:sp>
        <p:nvSpPr>
          <p:cNvPr id="39" name="Shape 35"/>
          <p:cNvSpPr/>
          <p:nvPr/>
        </p:nvSpPr>
        <p:spPr>
          <a:xfrm>
            <a:off x="5047488" y="5074920"/>
            <a:ext cx="6217920" cy="713232"/>
          </a:xfrm>
          <a:prstGeom prst="roundRect">
            <a:avLst>
              <a:gd name="adj" fmla="val 8974"/>
            </a:avLst>
          </a:prstGeom>
          <a:solidFill>
            <a:srgbClr val="101D31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40" name="Shape 36"/>
          <p:cNvSpPr/>
          <p:nvPr/>
        </p:nvSpPr>
        <p:spPr>
          <a:xfrm>
            <a:off x="5065776" y="5221224"/>
            <a:ext cx="41148" cy="420624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5230368" y="51755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评价指标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5230368" y="5394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mAP@50：IoU=0.5 时的平均精度；mAP@50-95：IoU 从 0.5 到 0.95 共 10 档取平均，更严格。</a:t>
            </a:r>
            <a:endParaRPr lang="en-US" sz="82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OVERVIEW  /  01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项目流程：数据、训练、调参、部署、网页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 1,356 张，训练 100 轮，调参 3 组，最终部署到 Streamlit。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55648"/>
            <a:ext cx="2011680" cy="2048256"/>
          </a:xfrm>
          <a:prstGeom prst="roundRect">
            <a:avLst>
              <a:gd name="adj" fmla="val 318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76656" y="1901952"/>
            <a:ext cx="41148" cy="1755648"/>
          </a:xfrm>
          <a:prstGeom prst="roundRect">
            <a:avLst>
              <a:gd name="adj" fmla="val 44444"/>
            </a:avLst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22960" y="1856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22960" y="21396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数据准备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2487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step2_dataset/</a:t>
            </a:r>
            <a:endParaRPr lang="en-US" sz="690" dirty="0"/>
          </a:p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prepare_dataset.py</a:t>
            </a:r>
            <a:endParaRPr lang="en-US" sz="690" dirty="0"/>
          </a:p>
        </p:txBody>
      </p:sp>
      <p:sp>
        <p:nvSpPr>
          <p:cNvPr id="19" name="Text 16"/>
          <p:cNvSpPr/>
          <p:nvPr/>
        </p:nvSpPr>
        <p:spPr>
          <a:xfrm>
            <a:off x="822960" y="29718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图片-标签配对</a:t>
            </a:r>
            <a:endParaRPr lang="en-US" sz="88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8:1:1 划分 · data.yaml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2665476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852928" y="1755648"/>
            <a:ext cx="2011680" cy="2048256"/>
          </a:xfrm>
          <a:prstGeom prst="roundRect">
            <a:avLst>
              <a:gd name="adj" fmla="val 318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871216" y="1901952"/>
            <a:ext cx="41148" cy="1755648"/>
          </a:xfrm>
          <a:prstGeom prst="roundRect">
            <a:avLst>
              <a:gd name="adj" fmla="val 44444"/>
            </a:avLst>
          </a:prstGeom>
          <a:solidFill>
            <a:srgbClr val="6C9BFF"/>
          </a:solidFill>
          <a:ln w="12700">
            <a:solidFill>
              <a:srgbClr val="6C9B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017520" y="1856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017520" y="21396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本地训练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017520" y="2487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step3_train/</a:t>
            </a:r>
            <a:endParaRPr lang="en-US" sz="690" dirty="0"/>
          </a:p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train.py</a:t>
            </a:r>
            <a:endParaRPr lang="en-US" sz="690" dirty="0"/>
          </a:p>
        </p:txBody>
      </p:sp>
      <p:sp>
        <p:nvSpPr>
          <p:cNvPr id="26" name="Text 23"/>
          <p:cNvSpPr/>
          <p:nvPr/>
        </p:nvSpPr>
        <p:spPr>
          <a:xfrm>
            <a:off x="3017520" y="29718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COCO 预训练权重</a:t>
            </a:r>
            <a:endParaRPr lang="en-US" sz="88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· 100 epochs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4860036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047488" y="1755648"/>
            <a:ext cx="2011680" cy="2048256"/>
          </a:xfrm>
          <a:prstGeom prst="roundRect">
            <a:avLst>
              <a:gd name="adj" fmla="val 318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5065776" y="1901952"/>
            <a:ext cx="41148" cy="1755648"/>
          </a:xfrm>
          <a:prstGeom prst="roundRect">
            <a:avLst>
              <a:gd name="adj" fmla="val 44444"/>
            </a:avLst>
          </a:prstGeom>
          <a:solidFill>
            <a:srgbClr val="C69BFF"/>
          </a:solidFill>
          <a:ln w="12700">
            <a:solidFill>
              <a:srgbClr val="C69BF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212080" y="1856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C6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212080" y="21396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调参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212080" y="2487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step4_tuning/</a:t>
            </a:r>
            <a:endParaRPr lang="en-US" sz="690" dirty="0"/>
          </a:p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colab_tuning.py</a:t>
            </a:r>
            <a:endParaRPr lang="en-US" sz="690" dirty="0"/>
          </a:p>
        </p:txBody>
      </p:sp>
      <p:sp>
        <p:nvSpPr>
          <p:cNvPr id="33" name="Text 30"/>
          <p:cNvSpPr/>
          <p:nvPr/>
        </p:nvSpPr>
        <p:spPr>
          <a:xfrm>
            <a:off x="5212080" y="29718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 · 3 组控制变量</a:t>
            </a:r>
            <a:endParaRPr lang="en-US" sz="88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epochs / 组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7054596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7242048" y="1755648"/>
            <a:ext cx="2011680" cy="2048256"/>
          </a:xfrm>
          <a:prstGeom prst="roundRect">
            <a:avLst>
              <a:gd name="adj" fmla="val 318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7260336" y="1901952"/>
            <a:ext cx="41148" cy="1755648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406640" y="1856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406640" y="21396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导出部署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06640" y="2487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step5_deploy/</a:t>
            </a:r>
            <a:endParaRPr lang="en-US" sz="690" dirty="0"/>
          </a:p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deploy_and_evaluate.py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406640" y="29718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.pt → .onnx</a:t>
            </a:r>
            <a:endParaRPr lang="en-US" sz="88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推理与测速</a:t>
            </a:r>
            <a:endParaRPr lang="en-US" sz="880" dirty="0"/>
          </a:p>
        </p:txBody>
      </p:sp>
      <p:sp>
        <p:nvSpPr>
          <p:cNvPr id="41" name="Text 38"/>
          <p:cNvSpPr/>
          <p:nvPr/>
        </p:nvSpPr>
        <p:spPr>
          <a:xfrm>
            <a:off x="9249156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9436608" y="1755648"/>
            <a:ext cx="2011680" cy="2048256"/>
          </a:xfrm>
          <a:prstGeom prst="roundRect">
            <a:avLst>
              <a:gd name="adj" fmla="val 318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454896" y="1901952"/>
            <a:ext cx="41148" cy="1755648"/>
          </a:xfrm>
          <a:prstGeom prst="roundRect">
            <a:avLst>
              <a:gd name="adj" fmla="val 44444"/>
            </a:avLst>
          </a:prstGeom>
          <a:solidFill>
            <a:srgbClr val="FF7AB6"/>
          </a:solidFill>
          <a:ln w="12700">
            <a:solidFill>
              <a:srgbClr val="FF7AB6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9601200" y="1856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7AB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9601200" y="21396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网页演示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9601200" y="2487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step6_web_demo/</a:t>
            </a:r>
            <a:endParaRPr lang="en-US" sz="690" dirty="0"/>
          </a:p>
          <a:p>
            <a:pPr marL="0" indent="0">
              <a:lnSpc>
                <a:spcPts val="1000"/>
              </a:lnSpc>
              <a:buNone/>
            </a:pPr>
            <a:r>
              <a:rPr lang="en-US" sz="69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app.py</a:t>
            </a:r>
            <a:endParaRPr lang="en-US" sz="690" dirty="0"/>
          </a:p>
        </p:txBody>
      </p:sp>
      <p:sp>
        <p:nvSpPr>
          <p:cNvPr id="47" name="Text 44"/>
          <p:cNvSpPr/>
          <p:nvPr/>
        </p:nvSpPr>
        <p:spPr>
          <a:xfrm>
            <a:off x="9601200" y="29718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上传</a:t>
            </a:r>
            <a:endParaRPr lang="en-US" sz="880" dirty="0"/>
          </a:p>
          <a:p>
            <a:pPr marL="0" indent="0">
              <a:lnSpc>
                <a:spcPts val="1300"/>
              </a:lnSpc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 conf / IoU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658368" y="4096512"/>
            <a:ext cx="2633472" cy="1078992"/>
          </a:xfrm>
          <a:prstGeom prst="roundRect">
            <a:avLst>
              <a:gd name="adj" fmla="val 593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822960" y="423367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images</a:t>
            </a:r>
            <a:endParaRPr lang="en-US" sz="860" dirty="0"/>
          </a:p>
        </p:txBody>
      </p:sp>
      <p:sp>
        <p:nvSpPr>
          <p:cNvPr id="50" name="Text 47"/>
          <p:cNvSpPr/>
          <p:nvPr/>
        </p:nvSpPr>
        <p:spPr>
          <a:xfrm>
            <a:off x="822960" y="44439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1,356</a:t>
            </a:r>
            <a:r>
              <a:rPr lang="en-US" sz="10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张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822960" y="492861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1084 / 135 / 137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3410712" y="4096512"/>
            <a:ext cx="2633472" cy="1078992"/>
          </a:xfrm>
          <a:prstGeom prst="roundRect">
            <a:avLst>
              <a:gd name="adj" fmla="val 593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3575304" y="423367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mAP@50</a:t>
            </a:r>
            <a:endParaRPr lang="en-US" sz="860" dirty="0"/>
          </a:p>
        </p:txBody>
      </p:sp>
      <p:sp>
        <p:nvSpPr>
          <p:cNvPr id="54" name="Text 51"/>
          <p:cNvSpPr/>
          <p:nvPr/>
        </p:nvSpPr>
        <p:spPr>
          <a:xfrm>
            <a:off x="3575304" y="44439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0.893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3575304" y="492861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epochs · CPU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6163056" y="4096512"/>
            <a:ext cx="2633472" cy="1078992"/>
          </a:xfrm>
          <a:prstGeom prst="roundRect">
            <a:avLst>
              <a:gd name="adj" fmla="val 593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6327648" y="423367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tuned mAP@50</a:t>
            </a:r>
            <a:endParaRPr lang="en-US" sz="860" dirty="0"/>
          </a:p>
        </p:txBody>
      </p:sp>
      <p:sp>
        <p:nvSpPr>
          <p:cNvPr id="58" name="Text 55"/>
          <p:cNvSpPr/>
          <p:nvPr/>
        </p:nvSpPr>
        <p:spPr>
          <a:xfrm>
            <a:off x="6327648" y="44439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0.897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327648" y="492861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epochs · T4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8915400" y="4096512"/>
            <a:ext cx="2633472" cy="1078992"/>
          </a:xfrm>
          <a:prstGeom prst="roundRect">
            <a:avLst>
              <a:gd name="adj" fmla="val 593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9079992" y="423367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throughput</a:t>
            </a:r>
            <a:endParaRPr lang="en-US" sz="860" dirty="0"/>
          </a:p>
        </p:txBody>
      </p:sp>
      <p:sp>
        <p:nvSpPr>
          <p:cNvPr id="62" name="Text 59"/>
          <p:cNvSpPr/>
          <p:nvPr/>
        </p:nvSpPr>
        <p:spPr>
          <a:xfrm>
            <a:off x="9079992" y="44439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14.9</a:t>
            </a:r>
            <a:r>
              <a:rPr lang="en-US" sz="10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FPS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9079992" y="492861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ms / image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658368" y="5431536"/>
            <a:ext cx="41148" cy="475488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813816" y="54315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项目文件按阶段拆分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813816" y="566928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固定随机种子 42；所有路径相对项目根目录；每个阶段可单独运行。</a:t>
            </a:r>
            <a:endParaRPr lang="en-US" sz="920" dirty="0"/>
          </a:p>
        </p:txBody>
      </p:sp>
      <p:sp>
        <p:nvSpPr>
          <p:cNvPr id="67" name="Text 64"/>
          <p:cNvSpPr/>
          <p:nvPr/>
        </p:nvSpPr>
        <p:spPr>
          <a:xfrm>
            <a:off x="905256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 scripts  /  1,000+ lines</a:t>
            </a:r>
            <a:endParaRPr lang="en-US" sz="85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  <p:bldP spid="57" grpId="0" animBg="1"/>
      <p:bldP spid="58" grpId="0" animBg="1"/>
      <p:bldP spid="59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C25AA9-837B-622B-59C1-7F110D5C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462"/>
            <a:ext cx="12192000" cy="653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9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 /  02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数据准备：图片与标签配对，按 8:1:1 划分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按同名文件配对；固定 seed=42，保证每次划分结果一致。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37360"/>
            <a:ext cx="6903720" cy="4133088"/>
          </a:xfrm>
          <a:prstGeom prst="roundRect">
            <a:avLst>
              <a:gd name="adj" fmla="val 1327"/>
            </a:avLst>
          </a:prstGeom>
          <a:solidFill>
            <a:srgbClr val="070C16"/>
          </a:solidFill>
          <a:ln w="10160">
            <a:solidFill>
              <a:srgbClr val="2C4163"/>
            </a:solidFill>
            <a:prstDash val="solid"/>
          </a:ln>
          <a:effectLst>
            <a:outerShdw blurRad="2032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7512" y="1746504"/>
            <a:ext cx="6885432" cy="402336"/>
          </a:xfrm>
          <a:prstGeom prst="rect">
            <a:avLst/>
          </a:prstGeom>
          <a:solidFill>
            <a:srgbClr val="0C1524"/>
          </a:solidFill>
          <a:ln w="12700">
            <a:solidFill>
              <a:srgbClr val="0C152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22960" y="1888236"/>
            <a:ext cx="77724" cy="7772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78408" y="1888236"/>
            <a:ext cx="77724" cy="77724"/>
          </a:xfrm>
          <a:prstGeom prst="ellipse">
            <a:avLst/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133856" y="1888236"/>
            <a:ext cx="77724" cy="77724"/>
          </a:xfrm>
          <a:prstGeom prst="ellipse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184708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FA6C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step2_dataset/prepare_dataset.py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720840" y="1842516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38E8C6">
              <a:alpha val="12000"/>
            </a:srgbClr>
          </a:solidFill>
          <a:ln w="6350">
            <a:solidFill>
              <a:srgbClr val="38E8C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720840" y="18425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kern="0" spc="8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PYTHON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841248" y="2258568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</a:t>
            </a:r>
            <a:endParaRPr lang="en-US" sz="810" dirty="0"/>
          </a:p>
        </p:txBody>
      </p:sp>
      <p:sp>
        <p:nvSpPr>
          <p:cNvPr id="23" name="Text 20"/>
          <p:cNvSpPr/>
          <p:nvPr/>
        </p:nvSpPr>
        <p:spPr>
          <a:xfrm>
            <a:off x="1234440" y="2256739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image_files = [f </a:t>
            </a:r>
            <a:r>
              <a:rPr lang="en-US" sz="1050" dirty="0">
                <a:solidFill>
                  <a:srgbClr val="C678D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for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f </a:t>
            </a:r>
            <a:r>
              <a:rPr lang="en-US" sz="1050" dirty="0">
                <a:solidFill>
                  <a:srgbClr val="C678D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os.listdir(SRC)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41248" y="2476195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1234440" y="2474366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   </a:t>
            </a:r>
            <a:r>
              <a:rPr lang="en-US" sz="1050" dirty="0">
                <a:solidFill>
                  <a:srgbClr val="C678D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if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f.lower().endswith(</a:t>
            </a:r>
            <a:r>
              <a:rPr lang="en-US" sz="1050" dirty="0">
                <a:solidFill>
                  <a:srgbClr val="98C37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(".jpg", ".jpeg", ".png")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)]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1248" y="2693822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3</a:t>
            </a:r>
            <a:endParaRPr lang="en-US" sz="810" dirty="0"/>
          </a:p>
        </p:txBody>
      </p:sp>
      <p:sp>
        <p:nvSpPr>
          <p:cNvPr id="27" name="Text 24"/>
          <p:cNvSpPr/>
          <p:nvPr/>
        </p:nvSpPr>
        <p:spPr>
          <a:xfrm>
            <a:off x="1234440" y="2691994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41248" y="2911450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</a:t>
            </a:r>
            <a:endParaRPr lang="en-US" sz="810" dirty="0"/>
          </a:p>
        </p:txBody>
      </p:sp>
      <p:sp>
        <p:nvSpPr>
          <p:cNvPr id="29" name="Text 26"/>
          <p:cNvSpPr/>
          <p:nvPr/>
        </p:nvSpPr>
        <p:spPr>
          <a:xfrm>
            <a:off x="1234440" y="2909621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for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img </a:t>
            </a:r>
            <a:r>
              <a:rPr lang="en-US" sz="1050" dirty="0">
                <a:solidFill>
                  <a:srgbClr val="C678D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image_files: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31520" y="3127248"/>
            <a:ext cx="6757416" cy="213970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31520" y="3127248"/>
            <a:ext cx="32004" cy="213970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41248" y="3129077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</a:t>
            </a:r>
            <a:endParaRPr lang="en-US" sz="810" dirty="0"/>
          </a:p>
        </p:txBody>
      </p:sp>
      <p:sp>
        <p:nvSpPr>
          <p:cNvPr id="33" name="Text 30"/>
          <p:cNvSpPr/>
          <p:nvPr/>
        </p:nvSpPr>
        <p:spPr>
          <a:xfrm>
            <a:off x="1234440" y="3127248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base  = os.path.splitext(img)[0]</a:t>
            </a:r>
            <a:r>
              <a:rPr lang="en-US" sz="105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# 0.jpg → 0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41248" y="3346704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</a:t>
            </a:r>
            <a:endParaRPr lang="en-US" sz="810" dirty="0"/>
          </a:p>
        </p:txBody>
      </p:sp>
      <p:sp>
        <p:nvSpPr>
          <p:cNvPr id="35" name="Text 32"/>
          <p:cNvSpPr/>
          <p:nvPr/>
        </p:nvSpPr>
        <p:spPr>
          <a:xfrm>
            <a:off x="1234440" y="3344875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label = base + </a:t>
            </a:r>
            <a:r>
              <a:rPr lang="en-US" sz="1050" dirty="0">
                <a:solidFill>
                  <a:srgbClr val="98C37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".txt"</a:t>
            </a:r>
            <a:r>
              <a:rPr lang="en-US" sz="105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     # → 0.txt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41248" y="3564331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7</a:t>
            </a:r>
            <a:endParaRPr lang="en-US" sz="810" dirty="0"/>
          </a:p>
        </p:txBody>
      </p:sp>
      <p:sp>
        <p:nvSpPr>
          <p:cNvPr id="37" name="Text 34"/>
          <p:cNvSpPr/>
          <p:nvPr/>
        </p:nvSpPr>
        <p:spPr>
          <a:xfrm>
            <a:off x="1234440" y="3562502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</a:t>
            </a:r>
            <a:r>
              <a:rPr lang="en-US" sz="1050" dirty="0">
                <a:solidFill>
                  <a:srgbClr val="C678D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if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os.path.exists(join(SRC, label)):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41248" y="3781958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8</a:t>
            </a:r>
            <a:endParaRPr lang="en-US" sz="810" dirty="0"/>
          </a:p>
        </p:txBody>
      </p:sp>
      <p:sp>
        <p:nvSpPr>
          <p:cNvPr id="39" name="Text 36"/>
          <p:cNvSpPr/>
          <p:nvPr/>
        </p:nvSpPr>
        <p:spPr>
          <a:xfrm>
            <a:off x="1234440" y="3780130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pairs.append((img, label))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41248" y="3999586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9</a:t>
            </a:r>
            <a:endParaRPr lang="en-US" sz="810" dirty="0"/>
          </a:p>
        </p:txBody>
      </p:sp>
      <p:sp>
        <p:nvSpPr>
          <p:cNvPr id="41" name="Text 38"/>
          <p:cNvSpPr/>
          <p:nvPr/>
        </p:nvSpPr>
        <p:spPr>
          <a:xfrm>
            <a:off x="1234440" y="3997757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31520" y="4215384"/>
            <a:ext cx="6757416" cy="213970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731520" y="4215384"/>
            <a:ext cx="32004" cy="213970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841248" y="4217213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</a:t>
            </a:r>
            <a:endParaRPr lang="en-US" sz="810" dirty="0"/>
          </a:p>
        </p:txBody>
      </p:sp>
      <p:sp>
        <p:nvSpPr>
          <p:cNvPr id="45" name="Text 42"/>
          <p:cNvSpPr/>
          <p:nvPr/>
        </p:nvSpPr>
        <p:spPr>
          <a:xfrm>
            <a:off x="1234440" y="4215384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random.seed(</a:t>
            </a:r>
            <a:r>
              <a:rPr lang="en-US" sz="105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42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r>
              <a:rPr lang="en-US" sz="105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        # 固定划分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841248" y="4434840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11</a:t>
            </a:r>
            <a:endParaRPr lang="en-US" sz="810" dirty="0"/>
          </a:p>
        </p:txBody>
      </p:sp>
      <p:sp>
        <p:nvSpPr>
          <p:cNvPr id="47" name="Text 44"/>
          <p:cNvSpPr/>
          <p:nvPr/>
        </p:nvSpPr>
        <p:spPr>
          <a:xfrm>
            <a:off x="1234440" y="4433011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random.shuffle(pairs)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731520" y="4650638"/>
            <a:ext cx="6757416" cy="213970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731520" y="4650638"/>
            <a:ext cx="32004" cy="213970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841248" y="4652467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12</a:t>
            </a:r>
            <a:endParaRPr lang="en-US" sz="810" dirty="0"/>
          </a:p>
        </p:txBody>
      </p:sp>
      <p:sp>
        <p:nvSpPr>
          <p:cNvPr id="51" name="Text 48"/>
          <p:cNvSpPr/>
          <p:nvPr/>
        </p:nvSpPr>
        <p:spPr>
          <a:xfrm>
            <a:off x="1234440" y="4650638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n_train = </a:t>
            </a:r>
            <a:r>
              <a:rPr lang="en-US" sz="1050" dirty="0">
                <a:solidFill>
                  <a:srgbClr val="61AFE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(len(pairs) * </a:t>
            </a:r>
            <a:r>
              <a:rPr lang="en-US" sz="105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0.8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841248" y="4870094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13</a:t>
            </a:r>
            <a:endParaRPr lang="en-US" sz="810" dirty="0"/>
          </a:p>
        </p:txBody>
      </p:sp>
      <p:sp>
        <p:nvSpPr>
          <p:cNvPr id="53" name="Text 50"/>
          <p:cNvSpPr/>
          <p:nvPr/>
        </p:nvSpPr>
        <p:spPr>
          <a:xfrm>
            <a:off x="1234440" y="4868266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train = pairs[:n_train]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841248" y="5087722"/>
            <a:ext cx="27432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14</a:t>
            </a:r>
            <a:endParaRPr lang="en-US" sz="810" dirty="0"/>
          </a:p>
        </p:txBody>
      </p:sp>
      <p:sp>
        <p:nvSpPr>
          <p:cNvPr id="55" name="Text 52"/>
          <p:cNvSpPr/>
          <p:nvPr/>
        </p:nvSpPr>
        <p:spPr>
          <a:xfrm>
            <a:off x="1234440" y="5085893"/>
            <a:ext cx="619048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val   = pairs[n_train:n_train + </a:t>
            </a:r>
            <a:r>
              <a:rPr lang="en-US" sz="1050" dirty="0">
                <a:solidFill>
                  <a:srgbClr val="E5C07B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val_count</a:t>
            </a:r>
            <a:r>
              <a:rPr lang="en-US" sz="10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]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7863840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划分结果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781812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1,356</a:t>
            </a:r>
            <a:endParaRPr lang="en-US" sz="3200" dirty="0"/>
          </a:p>
        </p:txBody>
      </p:sp>
      <p:sp>
        <p:nvSpPr>
          <p:cNvPr id="58" name="Text 55"/>
          <p:cNvSpPr/>
          <p:nvPr/>
        </p:nvSpPr>
        <p:spPr>
          <a:xfrm>
            <a:off x="9326880" y="21488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images  ·  Kaggle Face Mask Detection</a:t>
            </a:r>
            <a:endParaRPr lang="en-US" sz="760" dirty="0"/>
          </a:p>
        </p:txBody>
      </p:sp>
      <p:sp>
        <p:nvSpPr>
          <p:cNvPr id="59" name="Shape 56"/>
          <p:cNvSpPr/>
          <p:nvPr/>
        </p:nvSpPr>
        <p:spPr>
          <a:xfrm>
            <a:off x="7863840" y="2724912"/>
            <a:ext cx="2875788" cy="310896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7863840" y="272491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70C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endParaRPr lang="en-US" sz="860" dirty="0"/>
          </a:p>
        </p:txBody>
      </p:sp>
      <p:sp>
        <p:nvSpPr>
          <p:cNvPr id="61" name="Shape 58"/>
          <p:cNvSpPr/>
          <p:nvPr/>
        </p:nvSpPr>
        <p:spPr>
          <a:xfrm>
            <a:off x="10753344" y="2724912"/>
            <a:ext cx="347472" cy="310896"/>
          </a:xfrm>
          <a:prstGeom prst="rect">
            <a:avLst/>
          </a:prstGeom>
          <a:solidFill>
            <a:srgbClr val="6C9BFF"/>
          </a:solidFill>
          <a:ln w="12700">
            <a:solidFill>
              <a:srgbClr val="6C9BFF"/>
            </a:solidFill>
            <a:prstDash val="solid"/>
          </a:ln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10753344" y="2724912"/>
            <a:ext cx="361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70C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860" dirty="0"/>
          </a:p>
        </p:txBody>
      </p:sp>
      <p:sp>
        <p:nvSpPr>
          <p:cNvPr id="63" name="Shape 60"/>
          <p:cNvSpPr/>
          <p:nvPr/>
        </p:nvSpPr>
        <p:spPr>
          <a:xfrm>
            <a:off x="11114532" y="2724912"/>
            <a:ext cx="361188" cy="310896"/>
          </a:xfrm>
          <a:prstGeom prst="rect">
            <a:avLst/>
          </a:prstGeom>
          <a:solidFill>
            <a:srgbClr val="C69BFF"/>
          </a:solidFill>
          <a:ln w="12700">
            <a:solidFill>
              <a:srgbClr val="C69BFF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11114532" y="2724912"/>
            <a:ext cx="361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70C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860" dirty="0"/>
          </a:p>
        </p:txBody>
      </p:sp>
      <p:sp>
        <p:nvSpPr>
          <p:cNvPr id="65" name="Text 62"/>
          <p:cNvSpPr/>
          <p:nvPr/>
        </p:nvSpPr>
        <p:spPr>
          <a:xfrm>
            <a:off x="786384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 1,084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9162288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 135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10241280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6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 137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7818120" y="3529584"/>
            <a:ext cx="3675888" cy="1243584"/>
          </a:xfrm>
          <a:prstGeom prst="roundRect">
            <a:avLst>
              <a:gd name="adj" fmla="val 5147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7836408" y="3675888"/>
            <a:ext cx="41148" cy="950976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7991856" y="3630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标签格式</a:t>
            </a:r>
            <a:endParaRPr lang="en-US" sz="820" dirty="0"/>
          </a:p>
        </p:txBody>
      </p:sp>
      <p:sp>
        <p:nvSpPr>
          <p:cNvPr id="71" name="Text 68"/>
          <p:cNvSpPr/>
          <p:nvPr/>
        </p:nvSpPr>
        <p:spPr>
          <a:xfrm>
            <a:off x="7991856" y="38587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cls   cx      cy      w       h</a:t>
            </a:r>
            <a:endParaRPr lang="en-US" sz="1150" dirty="0"/>
          </a:p>
        </p:txBody>
      </p:sp>
      <p:sp>
        <p:nvSpPr>
          <p:cNvPr id="72" name="Text 69"/>
          <p:cNvSpPr/>
          <p:nvPr/>
        </p:nvSpPr>
        <p:spPr>
          <a:xfrm>
            <a:off x="7991856" y="4114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FA6C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0     0.512   0.438   0.296   0.407</a:t>
            </a:r>
            <a:endParaRPr lang="en-US" sz="880" dirty="0"/>
          </a:p>
        </p:txBody>
      </p:sp>
      <p:sp>
        <p:nvSpPr>
          <p:cNvPr id="73" name="Text 70"/>
          <p:cNvSpPr/>
          <p:nvPr/>
        </p:nvSpPr>
        <p:spPr>
          <a:xfrm>
            <a:off x="7991856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全部归一化到 0–1；0=mask，1=no-mask</a:t>
            </a:r>
            <a:endParaRPr lang="en-US" sz="750" dirty="0"/>
          </a:p>
        </p:txBody>
      </p:sp>
      <p:sp>
        <p:nvSpPr>
          <p:cNvPr id="74" name="Shape 71"/>
          <p:cNvSpPr/>
          <p:nvPr/>
        </p:nvSpPr>
        <p:spPr>
          <a:xfrm>
            <a:off x="7818120" y="4983480"/>
            <a:ext cx="41148" cy="502920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7982712" y="4983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固定种子与扩展名过滤</a:t>
            </a:r>
            <a:endParaRPr lang="en-US" sz="940" dirty="0"/>
          </a:p>
        </p:txBody>
      </p:sp>
      <p:sp>
        <p:nvSpPr>
          <p:cNvPr id="76" name="Text 73"/>
          <p:cNvSpPr/>
          <p:nvPr/>
        </p:nvSpPr>
        <p:spPr>
          <a:xfrm>
            <a:off x="7982712" y="5212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seed=42 让每次划分一致；别忘了 .jpeg，否则统计会少一批图。</a:t>
            </a:r>
            <a:endParaRPr lang="en-US" sz="8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4" grpId="0" animBg="1"/>
      <p:bldP spid="45" grpId="0" animBg="1"/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70" grpId="0" animBg="1"/>
      <p:bldP spid="71" grpId="0" animBg="1"/>
      <p:bldP spid="72" grpId="0" animBg="1"/>
      <p:bldP spid="73" grpId="0" animBg="1"/>
      <p:bldP spid="75" grpId="0" animBg="1"/>
      <p:bldP spid="7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  /  02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YOLOv8n 的结构与迁移学习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Backbone 提取特征，Neck 融合多尺度，Head 输出框和类别；nano 版本用于 CPU 推理。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37360"/>
            <a:ext cx="7086600" cy="3950208"/>
          </a:xfrm>
          <a:prstGeom prst="roundRect">
            <a:avLst>
              <a:gd name="adj" fmla="val 1620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1248" y="18470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b="1" kern="0" spc="20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ONE-STAGE DETECTOR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841248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单阶段检测流程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32688" y="2670048"/>
            <a:ext cx="1051560" cy="1078992"/>
          </a:xfrm>
          <a:prstGeom prst="roundRect">
            <a:avLst>
              <a:gd name="adj" fmla="val 5217"/>
            </a:avLst>
          </a:prstGeom>
          <a:solidFill>
            <a:srgbClr val="38E8C6">
              <a:alpha val="10000"/>
            </a:srgbClr>
          </a:solidFill>
          <a:ln w="12700">
            <a:solidFill>
              <a:srgbClr val="38E8C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14984" y="281635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b="1" kern="0" spc="7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INPUT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987552" y="3081528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640×640×3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993392" y="2999232"/>
            <a:ext cx="192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331720" y="2670048"/>
            <a:ext cx="1143000" cy="1078992"/>
          </a:xfrm>
          <a:prstGeom prst="roundRect">
            <a:avLst>
              <a:gd name="adj" fmla="val 5085"/>
            </a:avLst>
          </a:prstGeom>
          <a:solidFill>
            <a:srgbClr val="6C9BFF">
              <a:alpha val="10000"/>
            </a:srgbClr>
          </a:solidFill>
          <a:ln w="12700">
            <a:solidFill>
              <a:srgbClr val="6C9B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414016" y="2816352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b="1" kern="0" spc="70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BACKBONE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2386584" y="308152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C2f × 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83864" y="2999232"/>
            <a:ext cx="192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813048" y="2670048"/>
            <a:ext cx="1143000" cy="1078992"/>
          </a:xfrm>
          <a:prstGeom prst="roundRect">
            <a:avLst>
              <a:gd name="adj" fmla="val 5085"/>
            </a:avLst>
          </a:prstGeom>
          <a:solidFill>
            <a:srgbClr val="C69BFF">
              <a:alpha val="10000"/>
            </a:srgbClr>
          </a:solidFill>
          <a:ln w="12700">
            <a:solidFill>
              <a:srgbClr val="C69B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895344" y="2816352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b="1" kern="0" spc="70" dirty="0">
                <a:solidFill>
                  <a:srgbClr val="C6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NECK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3867912" y="308152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PAN-FPN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965192" y="2999232"/>
            <a:ext cx="192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294376" y="2670048"/>
            <a:ext cx="1188720" cy="1078992"/>
          </a:xfrm>
          <a:prstGeom prst="roundRect">
            <a:avLst>
              <a:gd name="adj" fmla="val 5085"/>
            </a:avLst>
          </a:prstGeom>
          <a:solidFill>
            <a:srgbClr val="F2B36B">
              <a:alpha val="10000"/>
            </a:srgbClr>
          </a:solidFill>
          <a:ln w="12700">
            <a:solidFill>
              <a:srgbClr val="F2B36B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376672" y="281635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b="1" kern="0" spc="70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HEAD</a:t>
            </a:r>
            <a:endParaRPr lang="en-US" sz="660" dirty="0"/>
          </a:p>
        </p:txBody>
      </p:sp>
      <p:sp>
        <p:nvSpPr>
          <p:cNvPr id="31" name="Text 28"/>
          <p:cNvSpPr/>
          <p:nvPr/>
        </p:nvSpPr>
        <p:spPr>
          <a:xfrm>
            <a:off x="5349240" y="308152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Decoupled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92240" y="2999232"/>
            <a:ext cx="192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812280" y="2670048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FF7AB6">
              <a:alpha val="10000"/>
            </a:srgbClr>
          </a:solidFill>
          <a:ln w="12700">
            <a:solidFill>
              <a:srgbClr val="FF7AB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894576" y="281635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b="1" kern="0" spc="70" dirty="0">
                <a:solidFill>
                  <a:srgbClr val="FF7AB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OUTPUT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6867144" y="308152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× (4+2)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3803904" y="389534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1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 80×80  → 小目标</a:t>
            </a:r>
            <a:endParaRPr lang="en-US" sz="710" dirty="0"/>
          </a:p>
        </p:txBody>
      </p:sp>
      <p:sp>
        <p:nvSpPr>
          <p:cNvPr id="37" name="Text 34"/>
          <p:cNvSpPr/>
          <p:nvPr/>
        </p:nvSpPr>
        <p:spPr>
          <a:xfrm>
            <a:off x="4983480" y="38953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1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 40×40</a:t>
            </a:r>
            <a:endParaRPr lang="en-US" sz="710" dirty="0"/>
          </a:p>
        </p:txBody>
      </p:sp>
      <p:sp>
        <p:nvSpPr>
          <p:cNvPr id="38" name="Text 35"/>
          <p:cNvSpPr/>
          <p:nvPr/>
        </p:nvSpPr>
        <p:spPr>
          <a:xfrm>
            <a:off x="5989320" y="38953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1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  20×20  → 大目标</a:t>
            </a:r>
            <a:endParaRPr lang="en-US" sz="710" dirty="0"/>
          </a:p>
        </p:txBody>
      </p:sp>
      <p:sp>
        <p:nvSpPr>
          <p:cNvPr id="39" name="Shape 36"/>
          <p:cNvSpPr/>
          <p:nvPr/>
        </p:nvSpPr>
        <p:spPr>
          <a:xfrm>
            <a:off x="868680" y="4187952"/>
            <a:ext cx="65379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68680" y="43891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3.0 M</a:t>
            </a:r>
            <a:endParaRPr lang="en-US" sz="2100" dirty="0"/>
          </a:p>
        </p:txBody>
      </p:sp>
      <p:sp>
        <p:nvSpPr>
          <p:cNvPr id="41" name="Text 38"/>
          <p:cNvSpPr/>
          <p:nvPr/>
        </p:nvSpPr>
        <p:spPr>
          <a:xfrm>
            <a:off x="868680" y="4690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参数量</a:t>
            </a:r>
            <a:endParaRPr lang="en-US" sz="740" dirty="0"/>
          </a:p>
        </p:txBody>
      </p:sp>
      <p:sp>
        <p:nvSpPr>
          <p:cNvPr id="42" name="Text 39"/>
          <p:cNvSpPr/>
          <p:nvPr/>
        </p:nvSpPr>
        <p:spPr>
          <a:xfrm>
            <a:off x="1965960" y="4389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8.7 GFLOPs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965960" y="4690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 输入</a:t>
            </a:r>
            <a:endParaRPr lang="en-US" sz="740" dirty="0"/>
          </a:p>
        </p:txBody>
      </p:sp>
      <p:sp>
        <p:nvSpPr>
          <p:cNvPr id="44" name="Text 41"/>
          <p:cNvSpPr/>
          <p:nvPr/>
        </p:nvSpPr>
        <p:spPr>
          <a:xfrm>
            <a:off x="3383280" y="44439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一次前向输出所有框和类别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68680" y="5074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为最小规格，s / m / l / x 依次增大</a:t>
            </a:r>
            <a:endParaRPr lang="en-US" sz="780" dirty="0"/>
          </a:p>
        </p:txBody>
      </p:sp>
      <p:sp>
        <p:nvSpPr>
          <p:cNvPr id="46" name="Text 43"/>
          <p:cNvSpPr/>
          <p:nvPr/>
        </p:nvSpPr>
        <p:spPr>
          <a:xfrm>
            <a:off x="868680" y="53309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nano 的主要原因是 CPU 推理速度</a:t>
            </a:r>
            <a:endParaRPr lang="en-US" sz="760" dirty="0"/>
          </a:p>
        </p:txBody>
      </p:sp>
      <p:sp>
        <p:nvSpPr>
          <p:cNvPr id="47" name="Shape 44"/>
          <p:cNvSpPr/>
          <p:nvPr/>
        </p:nvSpPr>
        <p:spPr>
          <a:xfrm>
            <a:off x="7955280" y="1737360"/>
            <a:ext cx="3566160" cy="3950208"/>
          </a:xfrm>
          <a:prstGeom prst="roundRect">
            <a:avLst>
              <a:gd name="adj" fmla="val 1795"/>
            </a:avLst>
          </a:prstGeom>
          <a:solidFill>
            <a:srgbClr val="101D31"/>
          </a:solidFill>
          <a:ln w="10160">
            <a:solidFill>
              <a:srgbClr val="2C4163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7973568" y="1883664"/>
            <a:ext cx="41148" cy="3657600"/>
          </a:xfrm>
          <a:prstGeom prst="roundRect">
            <a:avLst>
              <a:gd name="adj" fmla="val 44444"/>
            </a:avLst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8156448" y="1865376"/>
            <a:ext cx="1481328" cy="237744"/>
          </a:xfrm>
          <a:prstGeom prst="roundRect">
            <a:avLst>
              <a:gd name="adj" fmla="val 50000"/>
            </a:avLst>
          </a:prstGeom>
          <a:solidFill>
            <a:srgbClr val="38E8C6">
              <a:alpha val="12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8156448" y="186537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 LEARNING</a:t>
            </a:r>
            <a:endParaRPr lang="en-US" sz="670" dirty="0"/>
          </a:p>
        </p:txBody>
      </p:sp>
      <p:sp>
        <p:nvSpPr>
          <p:cNvPr id="51" name="Text 48"/>
          <p:cNvSpPr/>
          <p:nvPr/>
        </p:nvSpPr>
        <p:spPr>
          <a:xfrm>
            <a:off x="8156448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COCO 预训练权重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156448" y="26700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COCO 80 类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9491472" y="2660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9784080" y="2670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/ no-mask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156448" y="3063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加载后自动把检测头从 80 类改为 2 类。</a:t>
            </a:r>
            <a:endParaRPr lang="en-US" sz="840" dirty="0"/>
          </a:p>
        </p:txBody>
      </p:sp>
      <p:sp>
        <p:nvSpPr>
          <p:cNvPr id="56" name="Shape 53"/>
          <p:cNvSpPr/>
          <p:nvPr/>
        </p:nvSpPr>
        <p:spPr>
          <a:xfrm>
            <a:off x="8165592" y="3730752"/>
            <a:ext cx="68580" cy="68580"/>
          </a:xfrm>
          <a:prstGeom prst="ellipse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8321040" y="367588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通用边缘 / 纹理特征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8165592" y="4069080"/>
            <a:ext cx="68580" cy="68580"/>
          </a:xfrm>
          <a:prstGeom prst="ellipse">
            <a:avLst/>
          </a:prstGeom>
          <a:solidFill>
            <a:srgbClr val="6C9BFF"/>
          </a:solidFill>
          <a:ln w="12700">
            <a:solidFill>
              <a:srgbClr val="6C9BFF"/>
            </a:solidFill>
            <a:prstDash val="solid"/>
          </a:ln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8321040" y="401421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小数据也能快速收敛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8165592" y="4407408"/>
            <a:ext cx="68580" cy="68580"/>
          </a:xfrm>
          <a:prstGeom prst="ellipse">
            <a:avLst/>
          </a:prstGeom>
          <a:solidFill>
            <a:srgbClr val="C69BFF"/>
          </a:solidFill>
          <a:ln w="12700">
            <a:solidFill>
              <a:srgbClr val="C69BFF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8321040" y="43525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训练成本显著下降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8138160" y="4956048"/>
            <a:ext cx="3200400" cy="530352"/>
          </a:xfrm>
          <a:prstGeom prst="roundRect">
            <a:avLst>
              <a:gd name="adj" fmla="val 6897"/>
            </a:avLst>
          </a:prstGeom>
          <a:solidFill>
            <a:srgbClr val="070C16"/>
          </a:solidFill>
          <a:ln w="1016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63" name="Text 60"/>
          <p:cNvSpPr/>
          <p:nvPr/>
        </p:nvSpPr>
        <p:spPr>
          <a:xfrm>
            <a:off x="8229600" y="50474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model = YOLO("yolov8n.pt")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8229600" y="52395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Overriding nc=80 → nc=2</a:t>
            </a:r>
            <a:endParaRPr lang="en-US" sz="7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TRAINING  /  03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训练脚本：主要参数与输出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 已封装训练循环、数据加载和验证；脚本主要设置训练参数。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37360"/>
            <a:ext cx="6858000" cy="3611880"/>
          </a:xfrm>
          <a:prstGeom prst="roundRect">
            <a:avLst>
              <a:gd name="adj" fmla="val 1519"/>
            </a:avLst>
          </a:prstGeom>
          <a:solidFill>
            <a:srgbClr val="070C16"/>
          </a:solidFill>
          <a:ln w="10160">
            <a:solidFill>
              <a:srgbClr val="2C4163"/>
            </a:solidFill>
            <a:prstDash val="solid"/>
          </a:ln>
          <a:effectLst>
            <a:outerShdw blurRad="2032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7512" y="1746504"/>
            <a:ext cx="6839712" cy="402336"/>
          </a:xfrm>
          <a:prstGeom prst="rect">
            <a:avLst/>
          </a:prstGeom>
          <a:solidFill>
            <a:srgbClr val="0C1524"/>
          </a:solidFill>
          <a:ln w="12700">
            <a:solidFill>
              <a:srgbClr val="0C152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22960" y="1888236"/>
            <a:ext cx="77724" cy="7772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78408" y="1888236"/>
            <a:ext cx="77724" cy="77724"/>
          </a:xfrm>
          <a:prstGeom prst="ellipse">
            <a:avLst/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133856" y="1888236"/>
            <a:ext cx="77724" cy="77724"/>
          </a:xfrm>
          <a:prstGeom prst="ellipse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1847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FA6C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step3_train/train.py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675120" y="1842516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38E8C6">
              <a:alpha val="12000"/>
            </a:srgbClr>
          </a:solidFill>
          <a:ln w="6350">
            <a:solidFill>
              <a:srgbClr val="38E8C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675120" y="18425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kern="0" spc="8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PYTHON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841248" y="2258568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1234440" y="2256739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model = </a:t>
            </a:r>
            <a:r>
              <a:rPr lang="en-US" sz="1220" dirty="0">
                <a:solidFill>
                  <a:srgbClr val="61AFE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YOLO</a:t>
            </a: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(WEIGHTS)</a:t>
            </a:r>
            <a:r>
              <a:rPr lang="en-US" sz="122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# COCO 预训练权重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841248" y="2528316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1234440" y="2526487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841248" y="2798064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3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234440" y="2796235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results = model.</a:t>
            </a:r>
            <a:r>
              <a:rPr lang="en-US" sz="1220" dirty="0">
                <a:solidFill>
                  <a:srgbClr val="61AFE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train</a:t>
            </a: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841248" y="3067812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1234440" y="3065983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data=DATA_YAML,</a:t>
            </a:r>
            <a:r>
              <a:rPr lang="en-US" sz="122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# 2 类：mask / no-mask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731520" y="3335731"/>
            <a:ext cx="6711696" cy="266090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31520" y="3335731"/>
            <a:ext cx="32004" cy="266090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41248" y="3337560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1234440" y="3335731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epochs=</a:t>
            </a:r>
            <a:r>
              <a:rPr lang="en-US" sz="122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100</a:t>
            </a: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endParaRPr lang="en-US" sz="1220" dirty="0"/>
          </a:p>
        </p:txBody>
      </p:sp>
      <p:sp>
        <p:nvSpPr>
          <p:cNvPr id="34" name="Text 31"/>
          <p:cNvSpPr/>
          <p:nvPr/>
        </p:nvSpPr>
        <p:spPr>
          <a:xfrm>
            <a:off x="841248" y="3607308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1234440" y="3605479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batch=</a:t>
            </a:r>
            <a:r>
              <a:rPr lang="en-US" sz="122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16</a:t>
            </a: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r>
              <a:rPr lang="en-US" sz="122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 # CPU 内存的折中</a:t>
            </a:r>
            <a:endParaRPr lang="en-US" sz="1220" dirty="0"/>
          </a:p>
        </p:txBody>
      </p:sp>
      <p:sp>
        <p:nvSpPr>
          <p:cNvPr id="36" name="Shape 33"/>
          <p:cNvSpPr/>
          <p:nvPr/>
        </p:nvSpPr>
        <p:spPr>
          <a:xfrm>
            <a:off x="731520" y="3875227"/>
            <a:ext cx="6711696" cy="266090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731520" y="3875227"/>
            <a:ext cx="32004" cy="266090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41248" y="3877056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7</a:t>
            </a:r>
            <a:endParaRPr lang="en-US" sz="980" dirty="0"/>
          </a:p>
        </p:txBody>
      </p:sp>
      <p:sp>
        <p:nvSpPr>
          <p:cNvPr id="39" name="Text 36"/>
          <p:cNvSpPr/>
          <p:nvPr/>
        </p:nvSpPr>
        <p:spPr>
          <a:xfrm>
            <a:off x="1234440" y="3875227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imgsz=</a:t>
            </a:r>
            <a:r>
              <a:rPr lang="en-US" sz="122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640</a:t>
            </a: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r>
              <a:rPr lang="en-US" sz="122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# 统一输入尺寸</a:t>
            </a:r>
            <a:endParaRPr lang="en-US" sz="1220" dirty="0"/>
          </a:p>
        </p:txBody>
      </p:sp>
      <p:sp>
        <p:nvSpPr>
          <p:cNvPr id="40" name="Text 37"/>
          <p:cNvSpPr/>
          <p:nvPr/>
        </p:nvSpPr>
        <p:spPr>
          <a:xfrm>
            <a:off x="841248" y="4146804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8</a:t>
            </a:r>
            <a:endParaRPr lang="en-US" sz="980" dirty="0"/>
          </a:p>
        </p:txBody>
      </p:sp>
      <p:sp>
        <p:nvSpPr>
          <p:cNvPr id="41" name="Text 38"/>
          <p:cNvSpPr/>
          <p:nvPr/>
        </p:nvSpPr>
        <p:spPr>
          <a:xfrm>
            <a:off x="1234440" y="4144975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project="runs/detect",</a:t>
            </a:r>
            <a:endParaRPr lang="en-US" sz="1220" dirty="0"/>
          </a:p>
        </p:txBody>
      </p:sp>
      <p:sp>
        <p:nvSpPr>
          <p:cNvPr id="42" name="Text 39"/>
          <p:cNvSpPr/>
          <p:nvPr/>
        </p:nvSpPr>
        <p:spPr>
          <a:xfrm>
            <a:off x="841248" y="4416552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9</a:t>
            </a:r>
            <a:endParaRPr lang="en-US" sz="980" dirty="0"/>
          </a:p>
        </p:txBody>
      </p:sp>
      <p:sp>
        <p:nvSpPr>
          <p:cNvPr id="43" name="Text 40"/>
          <p:cNvSpPr/>
          <p:nvPr/>
        </p:nvSpPr>
        <p:spPr>
          <a:xfrm>
            <a:off x="1234440" y="4414723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name="train",</a:t>
            </a:r>
            <a:endParaRPr lang="en-US" sz="1220" dirty="0"/>
          </a:p>
        </p:txBody>
      </p:sp>
      <p:sp>
        <p:nvSpPr>
          <p:cNvPr id="44" name="Text 41"/>
          <p:cNvSpPr/>
          <p:nvPr/>
        </p:nvSpPr>
        <p:spPr>
          <a:xfrm>
            <a:off x="841248" y="4686300"/>
            <a:ext cx="274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1234440" y="4684471"/>
            <a:ext cx="61447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1220" dirty="0"/>
          </a:p>
        </p:txBody>
      </p:sp>
      <p:sp>
        <p:nvSpPr>
          <p:cNvPr id="46" name="Shape 43"/>
          <p:cNvSpPr/>
          <p:nvPr/>
        </p:nvSpPr>
        <p:spPr>
          <a:xfrm>
            <a:off x="7818120" y="1755648"/>
            <a:ext cx="2103120" cy="256032"/>
          </a:xfrm>
          <a:prstGeom prst="roundRect">
            <a:avLst>
              <a:gd name="adj" fmla="val 46429"/>
            </a:avLst>
          </a:prstGeom>
          <a:solidFill>
            <a:srgbClr val="F2B36B">
              <a:alpha val="12000"/>
            </a:srgbClr>
          </a:solidFill>
          <a:ln w="7620">
            <a:solidFill>
              <a:srgbClr val="F2B36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7818120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OVERRIDE  nc=80 → nc=2</a:t>
            </a:r>
            <a:endParaRPr lang="en-US" sz="670" dirty="0"/>
          </a:p>
        </p:txBody>
      </p:sp>
      <p:sp>
        <p:nvSpPr>
          <p:cNvPr id="48" name="Shape 45"/>
          <p:cNvSpPr/>
          <p:nvPr/>
        </p:nvSpPr>
        <p:spPr>
          <a:xfrm>
            <a:off x="7818120" y="2148840"/>
            <a:ext cx="3703320" cy="731520"/>
          </a:xfrm>
          <a:prstGeom prst="roundRect">
            <a:avLst>
              <a:gd name="adj" fmla="val 8750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7973568" y="22585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38E8C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data</a:t>
            </a:r>
            <a:endParaRPr lang="en-US" sz="930" dirty="0"/>
          </a:p>
        </p:txBody>
      </p:sp>
      <p:sp>
        <p:nvSpPr>
          <p:cNvPr id="50" name="Text 47"/>
          <p:cNvSpPr/>
          <p:nvPr/>
        </p:nvSpPr>
        <p:spPr>
          <a:xfrm>
            <a:off x="8759952" y="22402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AF2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DATA_YAML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973568" y="25420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唯一数据入口，告诉模型去哪里找图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7818120" y="2990088"/>
            <a:ext cx="3703320" cy="731520"/>
          </a:xfrm>
          <a:prstGeom prst="roundRect">
            <a:avLst>
              <a:gd name="adj" fmla="val 8750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973568" y="3099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6C9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epochs</a:t>
            </a:r>
            <a:endParaRPr lang="en-US" sz="930" dirty="0"/>
          </a:p>
        </p:txBody>
      </p:sp>
      <p:sp>
        <p:nvSpPr>
          <p:cNvPr id="54" name="Text 51"/>
          <p:cNvSpPr/>
          <p:nvPr/>
        </p:nvSpPr>
        <p:spPr>
          <a:xfrm>
            <a:off x="8759952" y="3081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AF2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100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7973568" y="3383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轮；best.pt 按验证集表现选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7818120" y="3831336"/>
            <a:ext cx="3703320" cy="731520"/>
          </a:xfrm>
          <a:prstGeom prst="roundRect">
            <a:avLst>
              <a:gd name="adj" fmla="val 8750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7973568" y="39410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C69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batch</a:t>
            </a:r>
            <a:endParaRPr lang="en-US" sz="930" dirty="0"/>
          </a:p>
        </p:txBody>
      </p:sp>
      <p:sp>
        <p:nvSpPr>
          <p:cNvPr id="58" name="Text 55"/>
          <p:cNvSpPr/>
          <p:nvPr/>
        </p:nvSpPr>
        <p:spPr>
          <a:xfrm>
            <a:off x="8759952" y="39227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AF2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16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7973568" y="42245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每批 16 张；内存不足就降到 8 / 4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7818120" y="4672584"/>
            <a:ext cx="3703320" cy="731520"/>
          </a:xfrm>
          <a:prstGeom prst="roundRect">
            <a:avLst>
              <a:gd name="adj" fmla="val 8750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7973568" y="47823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F2B36B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imgsz</a:t>
            </a:r>
            <a:endParaRPr lang="en-US" sz="930" dirty="0"/>
          </a:p>
        </p:txBody>
      </p:sp>
      <p:sp>
        <p:nvSpPr>
          <p:cNvPr id="62" name="Text 59"/>
          <p:cNvSpPr/>
          <p:nvPr/>
        </p:nvSpPr>
        <p:spPr>
          <a:xfrm>
            <a:off x="8759952" y="47640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AF2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640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7973568" y="50657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统一缩放；YOLOv8 的默认工作尺寸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658368" y="5559552"/>
            <a:ext cx="10863072" cy="566928"/>
          </a:xfrm>
          <a:prstGeom prst="roundRect">
            <a:avLst>
              <a:gd name="adj" fmla="val 11290"/>
            </a:avLst>
          </a:prstGeom>
          <a:solidFill>
            <a:srgbClr val="101D31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5" name="Shape 62"/>
          <p:cNvSpPr/>
          <p:nvPr/>
        </p:nvSpPr>
        <p:spPr>
          <a:xfrm>
            <a:off x="676656" y="5705856"/>
            <a:ext cx="41148" cy="274320"/>
          </a:xfrm>
          <a:prstGeom prst="roundRect">
            <a:avLst>
              <a:gd name="adj" fmla="val 44444"/>
            </a:avLst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841248" y="5650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CPU（R7 8845HS）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2852928" y="5614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4160520" y="5614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 h 08 min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5669280" y="56601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220 s / epoch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406640" y="56418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输出：best.pt  ·  results.png  ·  confusion_matrix.png</a:t>
            </a:r>
            <a:endParaRPr lang="en-US" sz="82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  <p:bldP spid="57" grpId="0" animBg="1"/>
      <p:bldP spid="58" grpId="0" animBg="1"/>
      <p:bldP spid="59" grpId="0" animBg="1"/>
      <p:bldP spid="61" grpId="0" animBg="1"/>
      <p:bldP spid="62" grpId="0" animBg="1"/>
      <p:bldP spid="63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RESULT  /  03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训练结果：mAP@50 0.8931，第 87 轮最佳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 mAP 在 50 轮后基本稳定；best.pt 按验证集指标选择。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19072"/>
            <a:ext cx="7726680" cy="4041648"/>
          </a:xfrm>
          <a:prstGeom prst="roundRect">
            <a:avLst>
              <a:gd name="adj" fmla="val 1584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1248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kern="0" spc="18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验证集 / 100 epochs</a:t>
            </a:r>
            <a:endParaRPr lang="en-US" sz="780" dirty="0"/>
          </a:p>
        </p:txBody>
      </p:sp>
      <p:pic>
        <p:nvPicPr>
          <p:cNvPr id="16" name="Image 1" descr="C:\Users\13070\Documents\Python_study\school_project\yolo_v8_project\期末汇报_PPT\ppt_assets\chart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75688"/>
            <a:ext cx="7424928" cy="2971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8680" y="525780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 与 mAP@50-95 同图对比；右侧是 Precision / Recall。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8577072" y="1719072"/>
            <a:ext cx="2953512" cy="932688"/>
          </a:xfrm>
          <a:prstGeom prst="roundRect">
            <a:avLst>
              <a:gd name="adj" fmla="val 6863"/>
            </a:avLst>
          </a:prstGeom>
          <a:solidFill>
            <a:srgbClr val="101D31"/>
          </a:solidFill>
          <a:ln w="10160">
            <a:solidFill>
              <a:srgbClr val="2C4163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595360" y="1865376"/>
            <a:ext cx="41148" cy="640080"/>
          </a:xfrm>
          <a:prstGeom prst="roundRect">
            <a:avLst>
              <a:gd name="adj" fmla="val 44444"/>
            </a:avLst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741664" y="18196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</a:t>
            </a:r>
            <a:endParaRPr lang="en-US" sz="820" dirty="0"/>
          </a:p>
        </p:txBody>
      </p:sp>
      <p:sp>
        <p:nvSpPr>
          <p:cNvPr id="21" name="Text 17"/>
          <p:cNvSpPr/>
          <p:nvPr/>
        </p:nvSpPr>
        <p:spPr>
          <a:xfrm>
            <a:off x="8741664" y="19933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0.8931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10497312" y="213969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@ 87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8577072" y="2761488"/>
            <a:ext cx="2953512" cy="932688"/>
          </a:xfrm>
          <a:prstGeom prst="roundRect">
            <a:avLst>
              <a:gd name="adj" fmla="val 6863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8741664" y="28620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mAP@50-95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8741664" y="30358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0.5959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10497312" y="3182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@ 73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8577072" y="3803904"/>
            <a:ext cx="2953512" cy="932688"/>
          </a:xfrm>
          <a:prstGeom prst="roundRect">
            <a:avLst>
              <a:gd name="adj" fmla="val 6863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8741664" y="3904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 / Recall</a:t>
            </a:r>
            <a:endParaRPr lang="en-US" sz="820" dirty="0"/>
          </a:p>
        </p:txBody>
      </p:sp>
      <p:sp>
        <p:nvSpPr>
          <p:cNvPr id="29" name="Text 25"/>
          <p:cNvSpPr/>
          <p:nvPr/>
        </p:nvSpPr>
        <p:spPr>
          <a:xfrm>
            <a:off x="8741664" y="4087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0.903 / 0.834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8577072" y="4846320"/>
            <a:ext cx="2953512" cy="713232"/>
          </a:xfrm>
          <a:prstGeom prst="roundRect">
            <a:avLst>
              <a:gd name="adj" fmla="val 8974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8741664" y="49377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训练耗时</a:t>
            </a:r>
            <a:endParaRPr lang="en-US" sz="780" dirty="0"/>
          </a:p>
        </p:txBody>
      </p:sp>
      <p:sp>
        <p:nvSpPr>
          <p:cNvPr id="32" name="Text 28"/>
          <p:cNvSpPr/>
          <p:nvPr/>
        </p:nvSpPr>
        <p:spPr>
          <a:xfrm>
            <a:off x="8741664" y="5120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6.14 h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9902952" y="51755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100 epochs</a:t>
            </a:r>
            <a:endParaRPr lang="en-US" sz="740" dirty="0"/>
          </a:p>
        </p:txBody>
      </p:sp>
      <p:sp>
        <p:nvSpPr>
          <p:cNvPr id="34" name="Shape 30"/>
          <p:cNvSpPr/>
          <p:nvPr/>
        </p:nvSpPr>
        <p:spPr>
          <a:xfrm>
            <a:off x="658368" y="5870448"/>
            <a:ext cx="10881360" cy="420624"/>
          </a:xfrm>
          <a:prstGeom prst="roundRect">
            <a:avLst>
              <a:gd name="adj" fmla="val 15217"/>
            </a:avLst>
          </a:prstGeom>
          <a:solidFill>
            <a:srgbClr val="101D31"/>
          </a:solidFill>
          <a:ln w="1016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676656" y="6016752"/>
            <a:ext cx="41148" cy="164592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841248" y="595274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50 轮后 mAP 基本稳定，后 50 轮提升约 1.1 个百分点。</a:t>
            </a:r>
            <a:endParaRPr lang="en-US" sz="92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5" grpId="0" animBg="1"/>
      <p:bldP spid="17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C:\Users\13070\Documents\Python_study\school_project\yolo_v8_project\期末汇报_PPT\ppt_assets\bg_dark.jpg">
            <a:extLst>
              <a:ext uri="{FF2B5EF4-FFF2-40B4-BE49-F238E27FC236}">
                <a16:creationId xmlns:a16="http://schemas.microsoft.com/office/drawing/2014/main" id="{72632D15-06CD-4489-49E8-D2140204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44DF2BC-AF7B-63EF-003F-E82E58210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D0A8FE-794E-D024-097B-6FFEC05E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FBB2FF4-73FA-90B6-CABC-4CA625085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0285" y="5190"/>
            <a:ext cx="5971429" cy="6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3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TUNING  /  04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调参设计：三组控制变量实验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三组实验都在 Colab T4 上训练 50 轮；只改学习率或 Mosaic，其余参数固定。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37360"/>
            <a:ext cx="5852160" cy="3840480"/>
          </a:xfrm>
          <a:prstGeom prst="roundRect">
            <a:avLst>
              <a:gd name="adj" fmla="val 1667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1248" y="1847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b="1" kern="0" spc="12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实验矩阵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1920240" y="1847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× 50 epochs  ·  Tesla T4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841248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1755648" y="21488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2898648" y="21488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优化器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858768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Mosaic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841248" y="2377440"/>
            <a:ext cx="544068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86384" y="2414016"/>
            <a:ext cx="5559552" cy="694944"/>
          </a:xfrm>
          <a:prstGeom prst="roundRect">
            <a:avLst>
              <a:gd name="adj" fmla="val 6579"/>
            </a:avLst>
          </a:prstGeom>
          <a:solidFill>
            <a:srgbClr val="38E8C6">
              <a:alpha val="7000"/>
            </a:srgbClr>
          </a:solidFill>
          <a:ln w="6350">
            <a:solidFill>
              <a:srgbClr val="38E8C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68680" y="2523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Baseline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1984248" y="25054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dirty="0">
                <a:solidFill>
                  <a:srgbClr val="EAF2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0.01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3063240" y="25237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SGD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4160520" y="25237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5257800" y="2491740"/>
            <a:ext cx="502920" cy="201168"/>
          </a:xfrm>
          <a:prstGeom prst="roundRect">
            <a:avLst>
              <a:gd name="adj" fmla="val 59091"/>
            </a:avLst>
          </a:prstGeom>
          <a:solidFill>
            <a:srgbClr val="38E8C6">
              <a:alpha val="12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257800" y="24917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620" dirty="0"/>
          </a:p>
        </p:txBody>
      </p:sp>
      <p:sp>
        <p:nvSpPr>
          <p:cNvPr id="29" name="Shape 26"/>
          <p:cNvSpPr/>
          <p:nvPr/>
        </p:nvSpPr>
        <p:spPr>
          <a:xfrm>
            <a:off x="868680" y="3182112"/>
            <a:ext cx="5394960" cy="4572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868680" y="33924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lr 10×↓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1984248" y="33741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dirty="0">
                <a:solidFill>
                  <a:srgbClr val="F2B36B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0.001</a:t>
            </a:r>
            <a:endParaRPr lang="en-US" sz="920" dirty="0"/>
          </a:p>
        </p:txBody>
      </p:sp>
      <p:sp>
        <p:nvSpPr>
          <p:cNvPr id="32" name="Text 29"/>
          <p:cNvSpPr/>
          <p:nvPr/>
        </p:nvSpPr>
        <p:spPr>
          <a:xfrm>
            <a:off x="3063240" y="33924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SGD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4160520" y="33924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1874520" y="36210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只改这里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868680" y="4050792"/>
            <a:ext cx="5394960" cy="4572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68680" y="42611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b="1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no mosaic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1984248" y="42428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dirty="0">
                <a:solidFill>
                  <a:srgbClr val="EAF2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0.01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3063240" y="42611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SGD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4160520" y="42611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4023360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只改这里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868680" y="51389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数据、模型、batch、imgsz 全部固定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720840" y="1737360"/>
            <a:ext cx="4773168" cy="3840480"/>
          </a:xfrm>
          <a:prstGeom prst="roundRect">
            <a:avLst>
              <a:gd name="adj" fmla="val 1429"/>
            </a:avLst>
          </a:prstGeom>
          <a:solidFill>
            <a:srgbClr val="070C16"/>
          </a:solidFill>
          <a:ln w="10160">
            <a:solidFill>
              <a:srgbClr val="2C4163"/>
            </a:solidFill>
            <a:prstDash val="solid"/>
          </a:ln>
          <a:effectLst>
            <a:outerShdw blurRad="2032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6729984" y="1746504"/>
            <a:ext cx="4754880" cy="402336"/>
          </a:xfrm>
          <a:prstGeom prst="rect">
            <a:avLst/>
          </a:prstGeom>
          <a:solidFill>
            <a:srgbClr val="0C1524"/>
          </a:solidFill>
          <a:ln w="12700">
            <a:solidFill>
              <a:srgbClr val="0C1524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6885432" y="1888236"/>
            <a:ext cx="77724" cy="7772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7040880" y="1888236"/>
            <a:ext cx="77724" cy="77724"/>
          </a:xfrm>
          <a:prstGeom prst="ellipse">
            <a:avLst/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7196328" y="1888236"/>
            <a:ext cx="77724" cy="77724"/>
          </a:xfrm>
          <a:prstGeom prst="ellipse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7434072" y="184708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FA6C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step4_tuning/colab_tuning.py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10652760" y="1842516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38E8C6">
              <a:alpha val="12000"/>
            </a:srgbClr>
          </a:solidFill>
          <a:ln w="6350">
            <a:solidFill>
              <a:srgbClr val="38E8C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10652760" y="18425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kern="0" spc="8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PYTHON</a:t>
            </a:r>
            <a:endParaRPr lang="en-US" sz="660" dirty="0"/>
          </a:p>
        </p:txBody>
      </p:sp>
      <p:sp>
        <p:nvSpPr>
          <p:cNvPr id="50" name="Text 47"/>
          <p:cNvSpPr/>
          <p:nvPr/>
        </p:nvSpPr>
        <p:spPr>
          <a:xfrm>
            <a:off x="6903720" y="2258568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7296912" y="2256739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model.train(</a:t>
            </a:r>
            <a:endParaRPr lang="en-US" sz="960" dirty="0"/>
          </a:p>
        </p:txBody>
      </p:sp>
      <p:sp>
        <p:nvSpPr>
          <p:cNvPr id="52" name="Text 49"/>
          <p:cNvSpPr/>
          <p:nvPr/>
        </p:nvSpPr>
        <p:spPr>
          <a:xfrm>
            <a:off x="6903720" y="2546604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7296912" y="2544775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data=DATA_YAML, </a:t>
            </a:r>
            <a:r>
              <a:rPr lang="en-US" sz="96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Drive</a:t>
            </a:r>
            <a:endParaRPr lang="en-US" sz="960" dirty="0"/>
          </a:p>
        </p:txBody>
      </p:sp>
      <p:sp>
        <p:nvSpPr>
          <p:cNvPr id="54" name="Text 51"/>
          <p:cNvSpPr/>
          <p:nvPr/>
        </p:nvSpPr>
        <p:spPr>
          <a:xfrm>
            <a:off x="6903720" y="2834640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3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7296912" y="2832811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epochs=</a:t>
            </a:r>
            <a:r>
              <a:rPr lang="en-US" sz="96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50</a:t>
            </a: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imgsz=</a:t>
            </a:r>
            <a:r>
              <a:rPr lang="en-US" sz="96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640</a:t>
            </a: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endParaRPr lang="en-US" sz="960" dirty="0"/>
          </a:p>
        </p:txBody>
      </p:sp>
      <p:sp>
        <p:nvSpPr>
          <p:cNvPr id="56" name="Shape 53"/>
          <p:cNvSpPr/>
          <p:nvPr/>
        </p:nvSpPr>
        <p:spPr>
          <a:xfrm>
            <a:off x="6793992" y="3120847"/>
            <a:ext cx="4626864" cy="284378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6793992" y="3120847"/>
            <a:ext cx="32004" cy="284378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6903720" y="3122676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7296912" y="3120847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lr0=</a:t>
            </a:r>
            <a:r>
              <a:rPr lang="en-US" sz="96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0.01</a:t>
            </a: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r>
              <a:rPr lang="en-US" sz="96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# ← 变量 1</a:t>
            </a:r>
            <a:endParaRPr lang="en-US" sz="960" dirty="0"/>
          </a:p>
        </p:txBody>
      </p:sp>
      <p:sp>
        <p:nvSpPr>
          <p:cNvPr id="60" name="Text 57"/>
          <p:cNvSpPr/>
          <p:nvPr/>
        </p:nvSpPr>
        <p:spPr>
          <a:xfrm>
            <a:off x="6903720" y="3410712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7296912" y="3408883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optimizer=</a:t>
            </a:r>
            <a:r>
              <a:rPr lang="en-US" sz="960" dirty="0">
                <a:solidFill>
                  <a:srgbClr val="98C37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"SGD"</a:t>
            </a: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endParaRPr lang="en-US" sz="960" dirty="0"/>
          </a:p>
        </p:txBody>
      </p:sp>
      <p:sp>
        <p:nvSpPr>
          <p:cNvPr id="62" name="Shape 59"/>
          <p:cNvSpPr/>
          <p:nvPr/>
        </p:nvSpPr>
        <p:spPr>
          <a:xfrm>
            <a:off x="6793992" y="3696919"/>
            <a:ext cx="4626864" cy="284378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6793992" y="3696919"/>
            <a:ext cx="32004" cy="284378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6903720" y="3698748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7296912" y="3696919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mosaic=</a:t>
            </a:r>
            <a:r>
              <a:rPr lang="en-US" sz="96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1.0</a:t>
            </a: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r>
              <a:rPr lang="en-US" sz="96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# ← 变量 2</a:t>
            </a:r>
            <a:endParaRPr lang="en-US" sz="960" dirty="0"/>
          </a:p>
        </p:txBody>
      </p:sp>
      <p:sp>
        <p:nvSpPr>
          <p:cNvPr id="66" name="Text 63"/>
          <p:cNvSpPr/>
          <p:nvPr/>
        </p:nvSpPr>
        <p:spPr>
          <a:xfrm>
            <a:off x="6903720" y="3986784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7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7296912" y="3984955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device=</a:t>
            </a:r>
            <a:r>
              <a:rPr lang="en-US" sz="96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</a:t>
            </a: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endParaRPr lang="en-US" sz="960" dirty="0"/>
          </a:p>
        </p:txBody>
      </p:sp>
      <p:sp>
        <p:nvSpPr>
          <p:cNvPr id="68" name="Text 65"/>
          <p:cNvSpPr/>
          <p:nvPr/>
        </p:nvSpPr>
        <p:spPr>
          <a:xfrm>
            <a:off x="6903720" y="4274820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8</a:t>
            </a:r>
            <a:endParaRPr lang="en-US" sz="720" dirty="0"/>
          </a:p>
        </p:txBody>
      </p:sp>
      <p:sp>
        <p:nvSpPr>
          <p:cNvPr id="69" name="Text 66"/>
          <p:cNvSpPr/>
          <p:nvPr/>
        </p:nvSpPr>
        <p:spPr>
          <a:xfrm>
            <a:off x="7296912" y="4272991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project=</a:t>
            </a:r>
            <a:r>
              <a:rPr lang="en-US" sz="960" dirty="0">
                <a:solidFill>
                  <a:srgbClr val="98C37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"/content/runs/tuning"</a:t>
            </a: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endParaRPr lang="en-US" sz="960" dirty="0"/>
          </a:p>
        </p:txBody>
      </p:sp>
      <p:sp>
        <p:nvSpPr>
          <p:cNvPr id="70" name="Text 67"/>
          <p:cNvSpPr/>
          <p:nvPr/>
        </p:nvSpPr>
        <p:spPr>
          <a:xfrm>
            <a:off x="6903720" y="4562856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9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7296912" y="4561027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name=</a:t>
            </a:r>
            <a:r>
              <a:rPr lang="en-US" sz="960" dirty="0">
                <a:solidFill>
                  <a:srgbClr val="98C37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"exp1_lr001_sgd"</a:t>
            </a: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endParaRPr lang="en-US" sz="960" dirty="0"/>
          </a:p>
        </p:txBody>
      </p:sp>
      <p:sp>
        <p:nvSpPr>
          <p:cNvPr id="72" name="Text 69"/>
          <p:cNvSpPr/>
          <p:nvPr/>
        </p:nvSpPr>
        <p:spPr>
          <a:xfrm>
            <a:off x="6903720" y="4850892"/>
            <a:ext cx="274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7296912" y="4849063"/>
            <a:ext cx="405993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960" dirty="0"/>
          </a:p>
        </p:txBody>
      </p:sp>
      <p:sp>
        <p:nvSpPr>
          <p:cNvPr id="74" name="Shape 71"/>
          <p:cNvSpPr/>
          <p:nvPr/>
        </p:nvSpPr>
        <p:spPr>
          <a:xfrm>
            <a:off x="658368" y="5806440"/>
            <a:ext cx="10863072" cy="475488"/>
          </a:xfrm>
          <a:prstGeom prst="roundRect">
            <a:avLst>
              <a:gd name="adj" fmla="val 13462"/>
            </a:avLst>
          </a:prstGeom>
          <a:solidFill>
            <a:srgbClr val="101D31"/>
          </a:solidFill>
          <a:ln w="1016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676656" y="5952744"/>
            <a:ext cx="41148" cy="182880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841248" y="589788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Colab 的 /content 会随断线清空 → 数据集放 Google Drive 挂载；结果先复制到 Drive 再下载。</a:t>
            </a:r>
            <a:endParaRPr lang="en-US" sz="88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0" grpId="0" animBg="1"/>
      <p:bldP spid="61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TUNING RESULT  /  04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调参结果：基线 0.8973，三组差距 1.2 个百分点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 mAP@50 的极差为 1.20 个百分点，差异不大。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37360"/>
            <a:ext cx="7059168" cy="3611880"/>
          </a:xfrm>
          <a:prstGeom prst="roundRect">
            <a:avLst>
              <a:gd name="adj" fmla="val 1772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68680" y="1847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b="1" kern="0" spc="12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 对比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4023360" y="18653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mAP@50，取每个实验的最高值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3063240" y="2240280"/>
            <a:ext cx="5486" cy="2103120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834640" y="44074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0.880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4137660" y="2240280"/>
            <a:ext cx="5486" cy="2103120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909060" y="44074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0.885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5212080" y="2240280"/>
            <a:ext cx="5486" cy="2103120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983480" y="44074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0.890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6286500" y="2240280"/>
            <a:ext cx="5486" cy="2103120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057900" y="44074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0.895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7360920" y="2240280"/>
            <a:ext cx="5486" cy="2103120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132320" y="44074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0.900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804672" y="2286000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38E8C6">
              <a:alpha val="6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77824" y="24688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740" dirty="0"/>
          </a:p>
        </p:txBody>
      </p:sp>
      <p:sp>
        <p:nvSpPr>
          <p:cNvPr id="29" name="Text 26"/>
          <p:cNvSpPr/>
          <p:nvPr/>
        </p:nvSpPr>
        <p:spPr>
          <a:xfrm>
            <a:off x="1188720" y="24414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1188720" y="26609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 0.01 · SGD · mosaic 开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2359152" y="2441448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0.8973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3063240" y="2551176"/>
            <a:ext cx="4297680" cy="10973"/>
          </a:xfrm>
          <a:prstGeom prst="rect">
            <a:avLst/>
          </a:prstGeom>
          <a:solidFill>
            <a:srgbClr val="2C4163"/>
          </a:solidFill>
          <a:ln w="1270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6712153" y="2482596"/>
            <a:ext cx="137160" cy="137160"/>
          </a:xfrm>
          <a:prstGeom prst="ellipse">
            <a:avLst/>
          </a:prstGeom>
          <a:solidFill>
            <a:srgbClr val="38E8C6"/>
          </a:solidFill>
          <a:ln w="15240">
            <a:solidFill>
              <a:srgbClr val="070C14"/>
            </a:solidFill>
            <a:prstDash val="solid"/>
          </a:ln>
          <a:effectLst>
            <a:outerShdw blurRad="76200" dist="50800" dir="16200000" algn="bl" rotWithShape="0">
              <a:srgbClr val="38E8C6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936181" y="24688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877824" y="31363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b="1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740" dirty="0"/>
          </a:p>
        </p:txBody>
      </p:sp>
      <p:sp>
        <p:nvSpPr>
          <p:cNvPr id="36" name="Text 33"/>
          <p:cNvSpPr/>
          <p:nvPr/>
        </p:nvSpPr>
        <p:spPr>
          <a:xfrm>
            <a:off x="1188720" y="31089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 = 0.001</a:t>
            </a:r>
            <a:endParaRPr lang="en-US" sz="920" dirty="0"/>
          </a:p>
        </p:txBody>
      </p:sp>
      <p:sp>
        <p:nvSpPr>
          <p:cNvPr id="37" name="Text 34"/>
          <p:cNvSpPr/>
          <p:nvPr/>
        </p:nvSpPr>
        <p:spPr>
          <a:xfrm>
            <a:off x="1188720" y="33284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只改学习率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2359152" y="3108960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0.8853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3063240" y="3218688"/>
            <a:ext cx="4297680" cy="10973"/>
          </a:xfrm>
          <a:prstGeom prst="rect">
            <a:avLst/>
          </a:prstGeom>
          <a:solidFill>
            <a:srgbClr val="2C4163"/>
          </a:solidFill>
          <a:ln w="1270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4133545" y="3150108"/>
            <a:ext cx="137160" cy="137160"/>
          </a:xfrm>
          <a:prstGeom prst="ellipse">
            <a:avLst/>
          </a:prstGeom>
          <a:solidFill>
            <a:srgbClr val="F2B36B"/>
          </a:solidFill>
          <a:ln w="15240">
            <a:solidFill>
              <a:srgbClr val="070C14"/>
            </a:solidFill>
            <a:prstDash val="solid"/>
          </a:ln>
          <a:effectLst>
            <a:outerShdw blurRad="76200" dist="50800" dir="16200000" algn="bl" rotWithShape="0">
              <a:srgbClr val="F2B36B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357573" y="31363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−1.20 pt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877824" y="380390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740" dirty="0"/>
          </a:p>
        </p:txBody>
      </p:sp>
      <p:sp>
        <p:nvSpPr>
          <p:cNvPr id="43" name="Text 40"/>
          <p:cNvSpPr/>
          <p:nvPr/>
        </p:nvSpPr>
        <p:spPr>
          <a:xfrm>
            <a:off x="1188720" y="37764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mosaic = off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1188720" y="3995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只关数据增强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2359152" y="377647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0.8899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3063240" y="3886200"/>
            <a:ext cx="4297680" cy="10973"/>
          </a:xfrm>
          <a:prstGeom prst="rect">
            <a:avLst/>
          </a:prstGeom>
          <a:solidFill>
            <a:srgbClr val="2C4163"/>
          </a:solidFill>
          <a:ln w="1270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5122012" y="3817620"/>
            <a:ext cx="137160" cy="137160"/>
          </a:xfrm>
          <a:prstGeom prst="ellipse">
            <a:avLst/>
          </a:prstGeom>
          <a:solidFill>
            <a:srgbClr val="6C9BFF"/>
          </a:solidFill>
          <a:ln w="15240">
            <a:solidFill>
              <a:srgbClr val="070C14"/>
            </a:solidFill>
            <a:prstDash val="solid"/>
          </a:ln>
          <a:effectLst>
            <a:outerShdw blurRad="76200" dist="50800" dir="16200000" algn="bl" rotWithShape="0">
              <a:srgbClr val="6C9BFF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5346040" y="38039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−0.74 pt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868680" y="47183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results.csv 取最佳轮次</a:t>
            </a:r>
            <a:endParaRPr lang="en-US" sz="740" dirty="0"/>
          </a:p>
        </p:txBody>
      </p:sp>
      <p:sp>
        <p:nvSpPr>
          <p:cNvPr id="50" name="Text 47"/>
          <p:cNvSpPr/>
          <p:nvPr/>
        </p:nvSpPr>
        <p:spPr>
          <a:xfrm>
            <a:off x="868680" y="493776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38E8C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best = max(rows, key=lambda r: float(r["metrics/mAP50(B)"]))</a:t>
            </a:r>
            <a:endParaRPr lang="en-US" sz="840" dirty="0"/>
          </a:p>
        </p:txBody>
      </p:sp>
      <p:sp>
        <p:nvSpPr>
          <p:cNvPr id="51" name="Shape 48"/>
          <p:cNvSpPr/>
          <p:nvPr/>
        </p:nvSpPr>
        <p:spPr>
          <a:xfrm>
            <a:off x="7909560" y="1737360"/>
            <a:ext cx="3611880" cy="1097280"/>
          </a:xfrm>
          <a:prstGeom prst="roundRect">
            <a:avLst>
              <a:gd name="adj" fmla="val 5833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8074152" y="18653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10×↓</a:t>
            </a:r>
            <a:endParaRPr lang="en-US" sz="830" dirty="0"/>
          </a:p>
        </p:txBody>
      </p:sp>
      <p:sp>
        <p:nvSpPr>
          <p:cNvPr id="53" name="Text 50"/>
          <p:cNvSpPr/>
          <p:nvPr/>
        </p:nvSpPr>
        <p:spPr>
          <a:xfrm>
            <a:off x="8074152" y="2066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−1.20 pt</a:t>
            </a:r>
            <a:endParaRPr lang="en-US" sz="2000" dirty="0"/>
          </a:p>
        </p:txBody>
      </p:sp>
      <p:sp>
        <p:nvSpPr>
          <p:cNvPr id="54" name="Text 51"/>
          <p:cNvSpPr/>
          <p:nvPr/>
        </p:nvSpPr>
        <p:spPr>
          <a:xfrm>
            <a:off x="8074152" y="2468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3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轮内收敛不足，属于欠拟合</a:t>
            </a:r>
            <a:endParaRPr lang="en-US" sz="730" dirty="0"/>
          </a:p>
        </p:txBody>
      </p:sp>
      <p:sp>
        <p:nvSpPr>
          <p:cNvPr id="55" name="Shape 52"/>
          <p:cNvSpPr/>
          <p:nvPr/>
        </p:nvSpPr>
        <p:spPr>
          <a:xfrm>
            <a:off x="7909560" y="2980944"/>
            <a:ext cx="3611880" cy="1097280"/>
          </a:xfrm>
          <a:prstGeom prst="roundRect">
            <a:avLst>
              <a:gd name="adj" fmla="val 5833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8074152" y="3108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Mosaic 关闭</a:t>
            </a:r>
            <a:endParaRPr lang="en-US" sz="830" dirty="0"/>
          </a:p>
        </p:txBody>
      </p:sp>
      <p:sp>
        <p:nvSpPr>
          <p:cNvPr id="57" name="Text 54"/>
          <p:cNvSpPr/>
          <p:nvPr/>
        </p:nvSpPr>
        <p:spPr>
          <a:xfrm>
            <a:off x="8074152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−0.74 pt</a:t>
            </a:r>
            <a:endParaRPr lang="en-US" sz="2000" dirty="0"/>
          </a:p>
        </p:txBody>
      </p:sp>
      <p:sp>
        <p:nvSpPr>
          <p:cNvPr id="58" name="Text 55"/>
          <p:cNvSpPr/>
          <p:nvPr/>
        </p:nvSpPr>
        <p:spPr>
          <a:xfrm>
            <a:off x="8074152" y="37124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3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场景单一（正脸近照），增强收益有限</a:t>
            </a:r>
            <a:endParaRPr lang="en-US" sz="730" dirty="0"/>
          </a:p>
        </p:txBody>
      </p:sp>
      <p:sp>
        <p:nvSpPr>
          <p:cNvPr id="59" name="Shape 56"/>
          <p:cNvSpPr/>
          <p:nvPr/>
        </p:nvSpPr>
        <p:spPr>
          <a:xfrm>
            <a:off x="7909560" y="4224528"/>
            <a:ext cx="3611880" cy="1097280"/>
          </a:xfrm>
          <a:prstGeom prst="roundRect">
            <a:avLst>
              <a:gd name="adj" fmla="val 5833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8074152" y="4352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三组极差</a:t>
            </a:r>
            <a:endParaRPr lang="en-US" sz="830" dirty="0"/>
          </a:p>
        </p:txBody>
      </p:sp>
      <p:sp>
        <p:nvSpPr>
          <p:cNvPr id="61" name="Text 58"/>
          <p:cNvSpPr/>
          <p:nvPr/>
        </p:nvSpPr>
        <p:spPr>
          <a:xfrm>
            <a:off x="8074152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1.20 pt</a:t>
            </a:r>
            <a:endParaRPr lang="en-US" sz="2000" dirty="0"/>
          </a:p>
        </p:txBody>
      </p:sp>
      <p:sp>
        <p:nvSpPr>
          <p:cNvPr id="62" name="Text 59"/>
          <p:cNvSpPr/>
          <p:nvPr/>
        </p:nvSpPr>
        <p:spPr>
          <a:xfrm>
            <a:off x="8074152" y="4956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3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继续调参的空间有限</a:t>
            </a:r>
            <a:endParaRPr lang="en-US" sz="730" dirty="0"/>
          </a:p>
        </p:txBody>
      </p:sp>
      <p:sp>
        <p:nvSpPr>
          <p:cNvPr id="63" name="Shape 60"/>
          <p:cNvSpPr/>
          <p:nvPr/>
        </p:nvSpPr>
        <p:spPr>
          <a:xfrm>
            <a:off x="658368" y="5596128"/>
            <a:ext cx="10863072" cy="603504"/>
          </a:xfrm>
          <a:prstGeom prst="roundRect">
            <a:avLst>
              <a:gd name="adj" fmla="val 10606"/>
            </a:avLst>
          </a:prstGeom>
          <a:solidFill>
            <a:srgbClr val="101D31"/>
          </a:solidFill>
          <a:ln w="1016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64" name="Shape 61"/>
          <p:cNvSpPr/>
          <p:nvPr/>
        </p:nvSpPr>
        <p:spPr>
          <a:xfrm>
            <a:off x="676656" y="5742432"/>
            <a:ext cx="41148" cy="310896"/>
          </a:xfrm>
          <a:prstGeom prst="roundRect">
            <a:avLst>
              <a:gd name="adj" fmla="val 44444"/>
            </a:avLst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868680" y="56967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结论：三组差距小于 1.2 个百分点，后续提升应优先考虑数据。</a:t>
            </a:r>
            <a:endParaRPr lang="en-US" sz="112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5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Users\13070\Documents\Python_study\school_project\yolo_v8_project\期末汇报_PPT\ppt_assets\bg_dark.jpg">
            <a:extLst>
              <a:ext uri="{FF2B5EF4-FFF2-40B4-BE49-F238E27FC236}">
                <a16:creationId xmlns:a16="http://schemas.microsoft.com/office/drawing/2014/main" id="{E5BE3F99-FDB2-6EE2-58F2-40833F43E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4972CD0-43DC-6F2D-293A-6058F62EA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77" y="0"/>
            <a:ext cx="11946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35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EXPORT  /  05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模型导出与部署：ONNX 格式与 CPU 测速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模型不再依赖 PyTorch；CPU 上 67 ms 一张，适用于静态图片。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37360"/>
            <a:ext cx="5989320" cy="2761488"/>
          </a:xfrm>
          <a:prstGeom prst="roundRect">
            <a:avLst>
              <a:gd name="adj" fmla="val 1987"/>
            </a:avLst>
          </a:prstGeom>
          <a:solidFill>
            <a:srgbClr val="070C16"/>
          </a:solidFill>
          <a:ln w="10160">
            <a:solidFill>
              <a:srgbClr val="2C4163"/>
            </a:solidFill>
            <a:prstDash val="solid"/>
          </a:ln>
          <a:effectLst>
            <a:outerShdw blurRad="2032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7512" y="1746504"/>
            <a:ext cx="5971032" cy="402336"/>
          </a:xfrm>
          <a:prstGeom prst="rect">
            <a:avLst/>
          </a:prstGeom>
          <a:solidFill>
            <a:srgbClr val="0C1524"/>
          </a:solidFill>
          <a:ln w="12700">
            <a:solidFill>
              <a:srgbClr val="0C152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22960" y="1888236"/>
            <a:ext cx="77724" cy="7772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78408" y="1888236"/>
            <a:ext cx="77724" cy="77724"/>
          </a:xfrm>
          <a:prstGeom prst="ellipse">
            <a:avLst/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133856" y="1888236"/>
            <a:ext cx="77724" cy="77724"/>
          </a:xfrm>
          <a:prstGeom prst="ellipse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18470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FA6C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step5_deploy/deploy_and_evaluate.py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5806440" y="1842516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38E8C6">
              <a:alpha val="12000"/>
            </a:srgbClr>
          </a:solidFill>
          <a:ln w="6350">
            <a:solidFill>
              <a:srgbClr val="38E8C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806440" y="18425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kern="0" spc="8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PYTHON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841248" y="225856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234440" y="2256739"/>
            <a:ext cx="5276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C678D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from</a:t>
            </a: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ultralytics </a:t>
            </a:r>
            <a:r>
              <a:rPr lang="en-US" sz="1120" dirty="0">
                <a:solidFill>
                  <a:srgbClr val="C678D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import</a:t>
            </a:r>
            <a:r>
              <a:rPr lang="en-US" sz="1120" dirty="0">
                <a:solidFill>
                  <a:srgbClr val="61AFE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YOLO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841248" y="252374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1234440" y="2521915"/>
            <a:ext cx="5276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841248" y="2788920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3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1234440" y="2787091"/>
            <a:ext cx="5276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model = </a:t>
            </a:r>
            <a:r>
              <a:rPr lang="en-US" sz="1120" dirty="0">
                <a:solidFill>
                  <a:srgbClr val="61AFE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YOLO</a:t>
            </a:r>
            <a:r>
              <a:rPr lang="en-US" sz="1120" dirty="0">
                <a:solidFill>
                  <a:srgbClr val="98C37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("step4_tuning/best.pt"</a:t>
            </a: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731520" y="3052267"/>
            <a:ext cx="5843016" cy="261518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31520" y="3052267"/>
            <a:ext cx="32004" cy="261518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841248" y="3054096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1234440" y="3052267"/>
            <a:ext cx="5276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onnx_path = model.</a:t>
            </a:r>
            <a:r>
              <a:rPr lang="en-US" sz="1120" dirty="0">
                <a:solidFill>
                  <a:srgbClr val="61AFE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export</a:t>
            </a: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731520" y="3317443"/>
            <a:ext cx="5843016" cy="261518"/>
          </a:xfrm>
          <a:prstGeom prst="rect">
            <a:avLst/>
          </a:prstGeom>
          <a:solidFill>
            <a:srgbClr val="38E8C6">
              <a:alpha val="7000"/>
            </a:srgbClr>
          </a:solidFill>
          <a:ln w="12700">
            <a:solidFill>
              <a:srgbClr val="38E8C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31520" y="3317443"/>
            <a:ext cx="32004" cy="261518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841248" y="331927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1234440" y="3317443"/>
            <a:ext cx="5276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format=</a:t>
            </a:r>
            <a:r>
              <a:rPr lang="en-US" sz="1120" dirty="0">
                <a:solidFill>
                  <a:srgbClr val="98C37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"onnx"</a:t>
            </a:r>
            <a:r>
              <a:rPr lang="en-US" sz="1120" dirty="0">
                <a:solidFill>
                  <a:srgbClr val="6B7A9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  # 通用推理格式</a:t>
            </a:r>
            <a:endParaRPr lang="en-US" sz="1120" dirty="0"/>
          </a:p>
        </p:txBody>
      </p:sp>
      <p:sp>
        <p:nvSpPr>
          <p:cNvPr id="36" name="Text 33"/>
          <p:cNvSpPr/>
          <p:nvPr/>
        </p:nvSpPr>
        <p:spPr>
          <a:xfrm>
            <a:off x="841248" y="358444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1234440" y="3582619"/>
            <a:ext cx="5276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imgsz=</a:t>
            </a:r>
            <a:r>
              <a:rPr lang="en-US" sz="1120" dirty="0">
                <a:solidFill>
                  <a:srgbClr val="D19A6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640</a:t>
            </a: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841248" y="384962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E74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7</a:t>
            </a:r>
            <a:endParaRPr lang="en-US" sz="880" dirty="0"/>
          </a:p>
        </p:txBody>
      </p:sp>
      <p:sp>
        <p:nvSpPr>
          <p:cNvPr id="39" name="Text 36"/>
          <p:cNvSpPr/>
          <p:nvPr/>
        </p:nvSpPr>
        <p:spPr>
          <a:xfrm>
            <a:off x="1234440" y="3847795"/>
            <a:ext cx="5276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6E2F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1120" dirty="0"/>
          </a:p>
        </p:txBody>
      </p:sp>
      <p:sp>
        <p:nvSpPr>
          <p:cNvPr id="40" name="Text 37"/>
          <p:cNvSpPr/>
          <p:nvPr/>
        </p:nvSpPr>
        <p:spPr>
          <a:xfrm>
            <a:off x="658368" y="4690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转换链路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658368" y="4937760"/>
            <a:ext cx="1691640" cy="749808"/>
          </a:xfrm>
          <a:prstGeom prst="roundRect">
            <a:avLst>
              <a:gd name="adj" fmla="val 8537"/>
            </a:avLst>
          </a:prstGeom>
          <a:solidFill>
            <a:srgbClr val="0D1727"/>
          </a:solidFill>
          <a:ln w="10160">
            <a:solidFill>
              <a:srgbClr val="C69BF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768096" y="5038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b="1" dirty="0">
                <a:solidFill>
                  <a:srgbClr val="C69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best.pt</a:t>
            </a:r>
            <a:endParaRPr lang="en-US" sz="870" dirty="0"/>
          </a:p>
        </p:txBody>
      </p:sp>
      <p:sp>
        <p:nvSpPr>
          <p:cNvPr id="43" name="Text 40"/>
          <p:cNvSpPr/>
          <p:nvPr/>
        </p:nvSpPr>
        <p:spPr>
          <a:xfrm>
            <a:off x="768096" y="5285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2350008" y="516636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2596896" y="4937760"/>
            <a:ext cx="1691640" cy="749808"/>
          </a:xfrm>
          <a:prstGeom prst="roundRect">
            <a:avLst>
              <a:gd name="adj" fmla="val 8537"/>
            </a:avLst>
          </a:prstGeom>
          <a:solidFill>
            <a:srgbClr val="0D1727"/>
          </a:solidFill>
          <a:ln w="1016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706624" y="5038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b="1" dirty="0">
                <a:solidFill>
                  <a:srgbClr val="38E8C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best.onnx</a:t>
            </a:r>
            <a:endParaRPr lang="en-US" sz="870" dirty="0"/>
          </a:p>
        </p:txBody>
      </p:sp>
      <p:sp>
        <p:nvSpPr>
          <p:cNvPr id="47" name="Text 44"/>
          <p:cNvSpPr/>
          <p:nvPr/>
        </p:nvSpPr>
        <p:spPr>
          <a:xfrm>
            <a:off x="2706624" y="5285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graph</a:t>
            </a:r>
            <a:endParaRPr lang="en-US" sz="680" dirty="0"/>
          </a:p>
        </p:txBody>
      </p:sp>
      <p:sp>
        <p:nvSpPr>
          <p:cNvPr id="48" name="Text 45"/>
          <p:cNvSpPr/>
          <p:nvPr/>
        </p:nvSpPr>
        <p:spPr>
          <a:xfrm>
            <a:off x="4288536" y="516636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4535424" y="4937760"/>
            <a:ext cx="1691640" cy="749808"/>
          </a:xfrm>
          <a:prstGeom prst="roundRect">
            <a:avLst>
              <a:gd name="adj" fmla="val 8537"/>
            </a:avLst>
          </a:prstGeom>
          <a:solidFill>
            <a:srgbClr val="0D1727"/>
          </a:solidFill>
          <a:ln w="10160">
            <a:solidFill>
              <a:srgbClr val="6C9BFF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4645152" y="5038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b="1" dirty="0">
                <a:solidFill>
                  <a:srgbClr val="6C9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onnxruntime</a:t>
            </a:r>
            <a:endParaRPr lang="en-US" sz="870" dirty="0"/>
          </a:p>
        </p:txBody>
      </p:sp>
      <p:sp>
        <p:nvSpPr>
          <p:cNvPr id="51" name="Text 48"/>
          <p:cNvSpPr/>
          <p:nvPr/>
        </p:nvSpPr>
        <p:spPr>
          <a:xfrm>
            <a:off x="4645152" y="5285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GPU</a:t>
            </a:r>
            <a:endParaRPr lang="en-US" sz="680" dirty="0"/>
          </a:p>
        </p:txBody>
      </p:sp>
      <p:sp>
        <p:nvSpPr>
          <p:cNvPr id="52" name="Shape 49"/>
          <p:cNvSpPr/>
          <p:nvPr/>
        </p:nvSpPr>
        <p:spPr>
          <a:xfrm>
            <a:off x="6967728" y="1737360"/>
            <a:ext cx="4553712" cy="1993392"/>
          </a:xfrm>
          <a:prstGeom prst="roundRect">
            <a:avLst>
              <a:gd name="adj" fmla="val 3211"/>
            </a:avLst>
          </a:prstGeom>
          <a:solidFill>
            <a:srgbClr val="101D31"/>
          </a:solidFill>
          <a:ln w="10160">
            <a:solidFill>
              <a:srgbClr val="2C4163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6986016" y="1883664"/>
            <a:ext cx="41148" cy="1700784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7187184" y="1865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kern="0" spc="150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CPU  ·  R7 8845HS</a:t>
            </a:r>
            <a:endParaRPr lang="en-US" sz="780" dirty="0"/>
          </a:p>
        </p:txBody>
      </p:sp>
      <p:sp>
        <p:nvSpPr>
          <p:cNvPr id="55" name="Text 52"/>
          <p:cNvSpPr/>
          <p:nvPr/>
        </p:nvSpPr>
        <p:spPr>
          <a:xfrm>
            <a:off x="7168896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14.9</a:t>
            </a:r>
            <a:endParaRPr lang="en-US" sz="3800" dirty="0"/>
          </a:p>
        </p:txBody>
      </p:sp>
      <p:sp>
        <p:nvSpPr>
          <p:cNvPr id="56" name="Text 53"/>
          <p:cNvSpPr/>
          <p:nvPr/>
        </p:nvSpPr>
        <p:spPr>
          <a:xfrm>
            <a:off x="8385048" y="23591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FPS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9208008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67 ms / image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9208008" y="2487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测试图检出成功</a:t>
            </a:r>
            <a:endParaRPr lang="en-US" sz="780" dirty="0"/>
          </a:p>
        </p:txBody>
      </p:sp>
      <p:sp>
        <p:nvSpPr>
          <p:cNvPr id="59" name="Shape 56"/>
          <p:cNvSpPr/>
          <p:nvPr/>
        </p:nvSpPr>
        <p:spPr>
          <a:xfrm>
            <a:off x="7187184" y="3163824"/>
            <a:ext cx="4114800" cy="64008"/>
          </a:xfrm>
          <a:prstGeom prst="rect">
            <a:avLst/>
          </a:prstGeom>
          <a:solidFill>
            <a:srgbClr val="2C4163"/>
          </a:solidFill>
          <a:ln w="1270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7187184" y="3163824"/>
            <a:ext cx="2756916" cy="64008"/>
          </a:xfrm>
          <a:prstGeom prst="rect">
            <a:avLst/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7187184" y="32735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</a:t>
            </a:r>
            <a:endParaRPr lang="en-US" sz="650" dirty="0"/>
          </a:p>
        </p:txBody>
      </p:sp>
      <p:sp>
        <p:nvSpPr>
          <p:cNvPr id="62" name="Text 59"/>
          <p:cNvSpPr/>
          <p:nvPr/>
        </p:nvSpPr>
        <p:spPr>
          <a:xfrm>
            <a:off x="9688068" y="29352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67 ms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10917936" y="32735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5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100 ms</a:t>
            </a:r>
            <a:endParaRPr lang="en-US" sz="650" dirty="0"/>
          </a:p>
        </p:txBody>
      </p:sp>
      <p:sp>
        <p:nvSpPr>
          <p:cNvPr id="64" name="Shape 61"/>
          <p:cNvSpPr/>
          <p:nvPr/>
        </p:nvSpPr>
        <p:spPr>
          <a:xfrm>
            <a:off x="6967728" y="3913632"/>
            <a:ext cx="2176272" cy="804672"/>
          </a:xfrm>
          <a:prstGeom prst="roundRect">
            <a:avLst>
              <a:gd name="adj" fmla="val 7955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713232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12.2 MB</a:t>
            </a:r>
            <a:endParaRPr lang="en-US" sz="1700" dirty="0"/>
          </a:p>
        </p:txBody>
      </p:sp>
      <p:sp>
        <p:nvSpPr>
          <p:cNvPr id="66" name="Text 63"/>
          <p:cNvSpPr/>
          <p:nvPr/>
        </p:nvSpPr>
        <p:spPr>
          <a:xfrm>
            <a:off x="7132320" y="43342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模型体积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9326880" y="3913632"/>
            <a:ext cx="2176272" cy="804672"/>
          </a:xfrm>
          <a:prstGeom prst="roundRect">
            <a:avLst>
              <a:gd name="adj" fmla="val 7955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9491472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14.9 FPS</a:t>
            </a:r>
            <a:endParaRPr lang="en-US" sz="1700" dirty="0"/>
          </a:p>
        </p:txBody>
      </p:sp>
      <p:sp>
        <p:nvSpPr>
          <p:cNvPr id="69" name="Text 66"/>
          <p:cNvSpPr/>
          <p:nvPr/>
        </p:nvSpPr>
        <p:spPr>
          <a:xfrm>
            <a:off x="9491472" y="43342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静态图片可用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6967728" y="4901184"/>
            <a:ext cx="4553712" cy="932688"/>
          </a:xfrm>
          <a:prstGeom prst="roundRect">
            <a:avLst>
              <a:gd name="adj" fmla="val 6863"/>
            </a:avLst>
          </a:prstGeom>
          <a:solidFill>
            <a:srgbClr val="101D31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71" name="Shape 68"/>
          <p:cNvSpPr/>
          <p:nvPr/>
        </p:nvSpPr>
        <p:spPr>
          <a:xfrm>
            <a:off x="6986016" y="5047488"/>
            <a:ext cx="41148" cy="640080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72" name="Text 69"/>
          <p:cNvSpPr/>
          <p:nvPr/>
        </p:nvSpPr>
        <p:spPr>
          <a:xfrm>
            <a:off x="7150608" y="5001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边界：不是实时视频</a:t>
            </a:r>
            <a:endParaRPr lang="en-US" sz="920" dirty="0"/>
          </a:p>
        </p:txBody>
      </p:sp>
      <p:sp>
        <p:nvSpPr>
          <p:cNvPr id="73" name="Text 70"/>
          <p:cNvSpPr/>
          <p:nvPr/>
        </p:nvSpPr>
        <p:spPr>
          <a:xfrm>
            <a:off x="7150608" y="5239512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FPS 实时视频需要 33 ms / 帧；67 ms 只够做图片检测。上视频要 GPU、TensorRT 或 INT8 量化。</a:t>
            </a:r>
            <a:endParaRPr lang="en-US" sz="76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8" grpId="0" animBg="1"/>
      <p:bldP spid="69" grpId="0" animBg="1"/>
      <p:bldP spid="72" grpId="0" animBg="1"/>
      <p:bldP spid="7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WEB APP  /  05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网页演示：Streamlit 推理流程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上传图片后，页面完成模型加载、推理、画框和结果统计。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19072"/>
            <a:ext cx="5870448" cy="4224528"/>
          </a:xfrm>
          <a:prstGeom prst="roundRect">
            <a:avLst>
              <a:gd name="adj" fmla="val 1515"/>
            </a:avLst>
          </a:prstGeom>
          <a:solidFill>
            <a:srgbClr val="0D1727"/>
          </a:solidFill>
          <a:ln w="10160">
            <a:solidFill>
              <a:srgbClr val="2C4163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5" name="Image 1" descr="C:\Users\13070\Documents\Python_study\school_project\yolo_v8_project\期末汇报_PPT\ppt_assets\streamlit_raw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783080"/>
            <a:ext cx="5724144" cy="40965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41248" y="1901952"/>
            <a:ext cx="777240" cy="219456"/>
          </a:xfrm>
          <a:prstGeom prst="roundRect">
            <a:avLst>
              <a:gd name="adj" fmla="val 54167"/>
            </a:avLst>
          </a:prstGeom>
          <a:solidFill>
            <a:srgbClr val="38E8C6">
              <a:alpha val="20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41248" y="19019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APP</a:t>
            </a:r>
            <a:endParaRPr lang="en-US" sz="660" dirty="0"/>
          </a:p>
        </p:txBody>
      </p:sp>
      <p:sp>
        <p:nvSpPr>
          <p:cNvPr id="18" name="Text 14"/>
          <p:cNvSpPr/>
          <p:nvPr/>
        </p:nvSpPr>
        <p:spPr>
          <a:xfrm>
            <a:off x="6784848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b="1" kern="0" spc="12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推理流程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6784848" y="2066544"/>
            <a:ext cx="292608" cy="292608"/>
          </a:xfrm>
          <a:prstGeom prst="ellipse">
            <a:avLst/>
          </a:prstGeom>
          <a:solidFill>
            <a:srgbClr val="101D31"/>
          </a:solidFill>
          <a:ln w="1016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784848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680" dirty="0"/>
          </a:p>
        </p:txBody>
      </p:sp>
      <p:sp>
        <p:nvSpPr>
          <p:cNvPr id="21" name="Text 17"/>
          <p:cNvSpPr/>
          <p:nvPr/>
        </p:nvSpPr>
        <p:spPr>
          <a:xfrm>
            <a:off x="7205472" y="2039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选图</a:t>
            </a:r>
            <a:endParaRPr lang="en-US" sz="980" dirty="0"/>
          </a:p>
        </p:txBody>
      </p:sp>
      <p:sp>
        <p:nvSpPr>
          <p:cNvPr id="22" name="Text 18"/>
          <p:cNvSpPr/>
          <p:nvPr/>
        </p:nvSpPr>
        <p:spPr>
          <a:xfrm>
            <a:off x="8065008" y="20528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上传图片，或直接选择测试集图片</a:t>
            </a:r>
            <a:endParaRPr lang="en-US" sz="760" dirty="0"/>
          </a:p>
        </p:txBody>
      </p:sp>
      <p:sp>
        <p:nvSpPr>
          <p:cNvPr id="23" name="Shape 19"/>
          <p:cNvSpPr/>
          <p:nvPr/>
        </p:nvSpPr>
        <p:spPr>
          <a:xfrm>
            <a:off x="6922008" y="2359152"/>
            <a:ext cx="10973" cy="246888"/>
          </a:xfrm>
          <a:prstGeom prst="rect">
            <a:avLst/>
          </a:prstGeom>
          <a:solidFill>
            <a:srgbClr val="2C4163"/>
          </a:solidFill>
          <a:ln w="1270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6784848" y="2633472"/>
            <a:ext cx="292608" cy="292608"/>
          </a:xfrm>
          <a:prstGeom prst="ellipse">
            <a:avLst/>
          </a:prstGeom>
          <a:solidFill>
            <a:srgbClr val="38E8C6"/>
          </a:solidFill>
          <a:ln w="1016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784848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70C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680" dirty="0"/>
          </a:p>
        </p:txBody>
      </p:sp>
      <p:sp>
        <p:nvSpPr>
          <p:cNvPr id="26" name="Text 22"/>
          <p:cNvSpPr/>
          <p:nvPr/>
        </p:nvSpPr>
        <p:spPr>
          <a:xfrm>
            <a:off x="7205472" y="2606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加载模型</a:t>
            </a:r>
            <a:endParaRPr lang="en-US" sz="980" dirty="0"/>
          </a:p>
        </p:txBody>
      </p:sp>
      <p:sp>
        <p:nvSpPr>
          <p:cNvPr id="27" name="Text 23"/>
          <p:cNvSpPr/>
          <p:nvPr/>
        </p:nvSpPr>
        <p:spPr>
          <a:xfrm>
            <a:off x="8065008" y="26197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cache_resource 缓存模型，并做一次预热</a:t>
            </a:r>
            <a:endParaRPr lang="en-US" sz="760" dirty="0"/>
          </a:p>
        </p:txBody>
      </p:sp>
      <p:sp>
        <p:nvSpPr>
          <p:cNvPr id="28" name="Shape 24"/>
          <p:cNvSpPr/>
          <p:nvPr/>
        </p:nvSpPr>
        <p:spPr>
          <a:xfrm>
            <a:off x="6922008" y="2926080"/>
            <a:ext cx="10973" cy="246888"/>
          </a:xfrm>
          <a:prstGeom prst="rect">
            <a:avLst/>
          </a:prstGeom>
          <a:solidFill>
            <a:srgbClr val="2C4163"/>
          </a:solidFill>
          <a:ln w="1270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784848" y="3200400"/>
            <a:ext cx="292608" cy="292608"/>
          </a:xfrm>
          <a:prstGeom prst="ellipse">
            <a:avLst/>
          </a:prstGeom>
          <a:solidFill>
            <a:srgbClr val="101D31"/>
          </a:solidFill>
          <a:ln w="1016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6784848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680" dirty="0"/>
          </a:p>
        </p:txBody>
      </p:sp>
      <p:sp>
        <p:nvSpPr>
          <p:cNvPr id="31" name="Text 27"/>
          <p:cNvSpPr/>
          <p:nvPr/>
        </p:nvSpPr>
        <p:spPr>
          <a:xfrm>
            <a:off x="7205472" y="3172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执行推理</a:t>
            </a:r>
            <a:endParaRPr lang="en-US" sz="980" dirty="0"/>
          </a:p>
        </p:txBody>
      </p:sp>
      <p:sp>
        <p:nvSpPr>
          <p:cNvPr id="32" name="Text 28"/>
          <p:cNvSpPr/>
          <p:nvPr/>
        </p:nvSpPr>
        <p:spPr>
          <a:xfrm>
            <a:off x="8065008" y="31866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model(image, conf, iou) 得到检测框</a:t>
            </a:r>
            <a:endParaRPr lang="en-US" sz="760" dirty="0"/>
          </a:p>
        </p:txBody>
      </p:sp>
      <p:sp>
        <p:nvSpPr>
          <p:cNvPr id="33" name="Shape 29"/>
          <p:cNvSpPr/>
          <p:nvPr/>
        </p:nvSpPr>
        <p:spPr>
          <a:xfrm>
            <a:off x="6922008" y="3493008"/>
            <a:ext cx="10973" cy="246888"/>
          </a:xfrm>
          <a:prstGeom prst="rect">
            <a:avLst/>
          </a:prstGeom>
          <a:solidFill>
            <a:srgbClr val="2C4163"/>
          </a:solidFill>
          <a:ln w="1270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6784848" y="3767328"/>
            <a:ext cx="292608" cy="292608"/>
          </a:xfrm>
          <a:prstGeom prst="ellipse">
            <a:avLst/>
          </a:prstGeom>
          <a:solidFill>
            <a:srgbClr val="101D31"/>
          </a:solidFill>
          <a:ln w="1016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6784848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680" dirty="0"/>
          </a:p>
        </p:txBody>
      </p:sp>
      <p:sp>
        <p:nvSpPr>
          <p:cNvPr id="36" name="Text 32"/>
          <p:cNvSpPr/>
          <p:nvPr/>
        </p:nvSpPr>
        <p:spPr>
          <a:xfrm>
            <a:off x="7205472" y="3739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展示结果</a:t>
            </a:r>
            <a:endParaRPr lang="en-US" sz="980" dirty="0"/>
          </a:p>
        </p:txBody>
      </p:sp>
      <p:sp>
        <p:nvSpPr>
          <p:cNvPr id="37" name="Text 33"/>
          <p:cNvSpPr/>
          <p:nvPr/>
        </p:nvSpPr>
        <p:spPr>
          <a:xfrm>
            <a:off x="8065008" y="37536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plot 画框、统计数量、显示检测明细</a:t>
            </a:r>
            <a:endParaRPr lang="en-US" sz="760" dirty="0"/>
          </a:p>
        </p:txBody>
      </p:sp>
      <p:sp>
        <p:nvSpPr>
          <p:cNvPr id="38" name="Shape 34"/>
          <p:cNvSpPr/>
          <p:nvPr/>
        </p:nvSpPr>
        <p:spPr>
          <a:xfrm>
            <a:off x="6784848" y="4370832"/>
            <a:ext cx="4709160" cy="1353312"/>
          </a:xfrm>
          <a:prstGeom prst="roundRect">
            <a:avLst>
              <a:gd name="adj" fmla="val 4730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9" name="Shape 35"/>
          <p:cNvSpPr/>
          <p:nvPr/>
        </p:nvSpPr>
        <p:spPr>
          <a:xfrm>
            <a:off x="6803136" y="4517136"/>
            <a:ext cx="41148" cy="1060704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694944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两个实现细节</a:t>
            </a:r>
            <a:endParaRPr lang="en-US" sz="840" dirty="0"/>
          </a:p>
        </p:txBody>
      </p:sp>
      <p:sp>
        <p:nvSpPr>
          <p:cNvPr id="41" name="Text 37"/>
          <p:cNvSpPr/>
          <p:nvPr/>
        </p:nvSpPr>
        <p:spPr>
          <a:xfrm>
            <a:off x="6949440" y="47365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缓存 + 预热</a:t>
            </a:r>
            <a:endParaRPr lang="en-US" sz="820" dirty="0"/>
          </a:p>
        </p:txBody>
      </p:sp>
      <p:sp>
        <p:nvSpPr>
          <p:cNvPr id="42" name="Text 38"/>
          <p:cNvSpPr/>
          <p:nvPr/>
        </p:nvSpPr>
        <p:spPr>
          <a:xfrm>
            <a:off x="6949440" y="492861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首次加载约 6 s，之后单张约 80 ms；预热放在缓存函数里，只执行一次。</a:t>
            </a:r>
            <a:endParaRPr lang="en-US" sz="720" dirty="0"/>
          </a:p>
        </p:txBody>
      </p:sp>
      <p:sp>
        <p:nvSpPr>
          <p:cNvPr id="43" name="Text 39"/>
          <p:cNvSpPr/>
          <p:nvPr/>
        </p:nvSpPr>
        <p:spPr>
          <a:xfrm>
            <a:off x="6949440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PIL 输入 / BGR→RGB</a:t>
            </a:r>
            <a:endParaRPr lang="en-US" sz="820" dirty="0"/>
          </a:p>
        </p:txBody>
      </p:sp>
      <p:sp>
        <p:nvSpPr>
          <p:cNvPr id="44" name="Text 40"/>
          <p:cNvSpPr/>
          <p:nvPr/>
        </p:nvSpPr>
        <p:spPr>
          <a:xfrm>
            <a:off x="6949440" y="5385816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直接传 PIL 图片；plot 返回 BGR，显示前用 [..., ::-1] 转成 RGB。</a:t>
            </a:r>
            <a:endParaRPr lang="en-US" sz="720" dirty="0"/>
          </a:p>
        </p:txBody>
      </p:sp>
      <p:sp>
        <p:nvSpPr>
          <p:cNvPr id="45" name="Shape 41"/>
          <p:cNvSpPr/>
          <p:nvPr/>
        </p:nvSpPr>
        <p:spPr>
          <a:xfrm>
            <a:off x="6784848" y="5833872"/>
            <a:ext cx="4709160" cy="384048"/>
          </a:xfrm>
          <a:prstGeom prst="roundRect">
            <a:avLst>
              <a:gd name="adj" fmla="val 16667"/>
            </a:avLst>
          </a:prstGeom>
          <a:solidFill>
            <a:srgbClr val="101D31"/>
          </a:solidFill>
          <a:ln w="1016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6931152" y="590702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38E8C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启动  streamlit run step6_web_demo/app.py</a:t>
            </a:r>
            <a:endParaRPr lang="en-US" sz="720" dirty="0"/>
          </a:p>
        </p:txBody>
      </p:sp>
      <p:sp>
        <p:nvSpPr>
          <p:cNvPr id="47" name="Text 43"/>
          <p:cNvSpPr/>
          <p:nvPr/>
        </p:nvSpPr>
        <p:spPr>
          <a:xfrm>
            <a:off x="658368" y="599846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一次交互 = 脚本从头重跑一次</a:t>
            </a:r>
            <a:endParaRPr lang="en-US" sz="82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DEMO  /  05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检测结果示例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测试集图片未参与训练；框上标注类别和置信度。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endParaRPr lang="en-US" sz="900" dirty="0"/>
          </a:p>
        </p:txBody>
      </p:sp>
      <p:pic>
        <p:nvPicPr>
          <p:cNvPr id="14" name="Image 1" descr="C:\Users\13070\Documents\Python_study\school_project\yolo_v8_project\期末汇报_PPT\ppt_assets\gallery_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8368" y="1737360"/>
            <a:ext cx="3520440" cy="2286000"/>
          </a:xfrm>
          <a:prstGeom prst="rect">
            <a:avLst/>
          </a:prstGeom>
          <a:effectLst>
            <a:outerShdw blurRad="1778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658368" y="40965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街道人群  ·  5 个目标全部检出</a:t>
            </a:r>
            <a:endParaRPr lang="en-US" sz="870" dirty="0"/>
          </a:p>
        </p:txBody>
      </p:sp>
      <p:pic>
        <p:nvPicPr>
          <p:cNvPr id="16" name="Image 2" descr="C:\Users\13070\Documents\Python_study\school_project\yolo_v8_project\期末汇报_PPT\ppt_assets\gallery_1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400" y="1737360"/>
            <a:ext cx="3520440" cy="2286000"/>
          </a:xfrm>
          <a:prstGeom prst="rect">
            <a:avLst/>
          </a:prstGeom>
          <a:effectLst>
            <a:outerShdw blurRad="1778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7" name="Text 12"/>
          <p:cNvSpPr/>
          <p:nvPr/>
        </p:nvSpPr>
        <p:spPr>
          <a:xfrm>
            <a:off x="4343400" y="40965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b="1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多人场景  ·  8 mask + 1 no-mask</a:t>
            </a:r>
            <a:endParaRPr lang="en-US" sz="870" dirty="0"/>
          </a:p>
        </p:txBody>
      </p:sp>
      <p:pic>
        <p:nvPicPr>
          <p:cNvPr id="18" name="Image 3" descr="C:\Users\13070\Documents\Python_study\school_project\yolo_v8_project\期末汇报_PPT\ppt_assets\gallery_3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28432" y="1737360"/>
            <a:ext cx="3520440" cy="2286000"/>
          </a:xfrm>
          <a:prstGeom prst="rect">
            <a:avLst/>
          </a:prstGeom>
          <a:effectLst>
            <a:outerShdw blurRad="1778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9" name="Text 13"/>
          <p:cNvSpPr/>
          <p:nvPr/>
        </p:nvSpPr>
        <p:spPr>
          <a:xfrm>
            <a:off x="8028432" y="40965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b="1" dirty="0">
                <a:solidFill>
                  <a:srgbClr val="C6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单人近照  ·  mask 0.94</a:t>
            </a:r>
            <a:endParaRPr lang="en-US" sz="870" dirty="0"/>
          </a:p>
        </p:txBody>
      </p:sp>
      <p:sp>
        <p:nvSpPr>
          <p:cNvPr id="20" name="Shape 14"/>
          <p:cNvSpPr/>
          <p:nvPr/>
        </p:nvSpPr>
        <p:spPr>
          <a:xfrm>
            <a:off x="658368" y="4572000"/>
            <a:ext cx="2578608" cy="841248"/>
          </a:xfrm>
          <a:prstGeom prst="roundRect">
            <a:avLst>
              <a:gd name="adj" fmla="val 7609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804672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测试图检出</a:t>
            </a:r>
            <a:endParaRPr lang="en-US" sz="780" dirty="0"/>
          </a:p>
        </p:txBody>
      </p:sp>
      <p:sp>
        <p:nvSpPr>
          <p:cNvPr id="22" name="Text 16"/>
          <p:cNvSpPr/>
          <p:nvPr/>
        </p:nvSpPr>
        <p:spPr>
          <a:xfrm>
            <a:off x="804672" y="4882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 / 5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3401568" y="4572000"/>
            <a:ext cx="2578608" cy="841248"/>
          </a:xfrm>
          <a:prstGeom prst="roundRect">
            <a:avLst>
              <a:gd name="adj" fmla="val 7609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3547872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演示页检测目标</a:t>
            </a:r>
            <a:endParaRPr lang="en-US" sz="780" dirty="0"/>
          </a:p>
        </p:txBody>
      </p:sp>
      <p:sp>
        <p:nvSpPr>
          <p:cNvPr id="25" name="Text 19"/>
          <p:cNvSpPr/>
          <p:nvPr/>
        </p:nvSpPr>
        <p:spPr>
          <a:xfrm>
            <a:off x="3547872" y="4882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144768" y="4572000"/>
            <a:ext cx="2578608" cy="841248"/>
          </a:xfrm>
          <a:prstGeom prst="roundRect">
            <a:avLst>
              <a:gd name="adj" fmla="val 7609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7" name="Text 21"/>
          <p:cNvSpPr/>
          <p:nvPr/>
        </p:nvSpPr>
        <p:spPr>
          <a:xfrm>
            <a:off x="6291072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单张推理</a:t>
            </a:r>
            <a:endParaRPr lang="en-US" sz="780" dirty="0"/>
          </a:p>
        </p:txBody>
      </p:sp>
      <p:sp>
        <p:nvSpPr>
          <p:cNvPr id="28" name="Text 22"/>
          <p:cNvSpPr/>
          <p:nvPr/>
        </p:nvSpPr>
        <p:spPr>
          <a:xfrm>
            <a:off x="6291072" y="4882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3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 ms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8887968" y="4572000"/>
            <a:ext cx="2578608" cy="841248"/>
          </a:xfrm>
          <a:prstGeom prst="roundRect">
            <a:avLst>
              <a:gd name="adj" fmla="val 7609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0" name="Text 24"/>
          <p:cNvSpPr/>
          <p:nvPr/>
        </p:nvSpPr>
        <p:spPr>
          <a:xfrm>
            <a:off x="9034272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等效帧率</a:t>
            </a:r>
            <a:endParaRPr lang="en-US" sz="780" dirty="0"/>
          </a:p>
        </p:txBody>
      </p:sp>
      <p:sp>
        <p:nvSpPr>
          <p:cNvPr id="31" name="Text 25"/>
          <p:cNvSpPr/>
          <p:nvPr/>
        </p:nvSpPr>
        <p:spPr>
          <a:xfrm>
            <a:off x="9034272" y="4882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13.5 FPS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658368" y="5605272"/>
            <a:ext cx="10863072" cy="530352"/>
          </a:xfrm>
          <a:prstGeom prst="roundRect">
            <a:avLst>
              <a:gd name="adj" fmla="val 12069"/>
            </a:avLst>
          </a:prstGeom>
          <a:solidFill>
            <a:srgbClr val="101D31"/>
          </a:solidFill>
          <a:ln w="1016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676656" y="5751576"/>
            <a:ext cx="41148" cy="237744"/>
          </a:xfrm>
          <a:prstGeom prst="roundRect">
            <a:avLst>
              <a:gd name="adj" fmla="val 44444"/>
            </a:avLst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868680" y="57058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演示页支持实时切换置信度 / IoU：调高更严格、误检少；调低更敏感、漏检少。</a:t>
            </a:r>
            <a:endParaRPr lang="en-US" sz="95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5" grpId="0" animBg="1"/>
      <p:bldP spid="17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SUMMARY  /  06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16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完成数据准备、训练、调参、ONNX 导出和 Streamlit 演示。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37360"/>
            <a:ext cx="3493008" cy="2971800"/>
          </a:xfrm>
          <a:prstGeom prst="roundRect">
            <a:avLst>
              <a:gd name="adj" fmla="val 2154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76656" y="1883664"/>
            <a:ext cx="41148" cy="2679192"/>
          </a:xfrm>
          <a:prstGeom prst="roundRect">
            <a:avLst>
              <a:gd name="adj" fmla="val 44444"/>
            </a:avLst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41248" y="1865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b="1" kern="0" spc="1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1280160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数据与训练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" y="2212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0.8931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841248" y="2615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 · 本地 CPU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841248" y="30175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" y="30358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1,356 张图，8:1:1 固定种子划分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841248" y="342900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" y="3447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COCO 预训练 + 2 类检测头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841248" y="384048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" y="3858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epochs，6.14 小时跑完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315968" y="1737360"/>
            <a:ext cx="3493008" cy="2971800"/>
          </a:xfrm>
          <a:prstGeom prst="roundRect">
            <a:avLst>
              <a:gd name="adj" fmla="val 2154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334256" y="1883664"/>
            <a:ext cx="41148" cy="2679192"/>
          </a:xfrm>
          <a:prstGeom prst="roundRect">
            <a:avLst>
              <a:gd name="adj" fmla="val 44444"/>
            </a:avLst>
          </a:prstGeom>
          <a:solidFill>
            <a:srgbClr val="6C9BFF"/>
          </a:solidFill>
          <a:ln w="12700">
            <a:solidFill>
              <a:srgbClr val="6C9B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498848" y="1865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b="1" kern="0" spc="140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4937760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调参与评估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498848" y="2212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0.8973</a:t>
            </a:r>
            <a:endParaRPr lang="en-US" sz="2500" dirty="0"/>
          </a:p>
        </p:txBody>
      </p:sp>
      <p:sp>
        <p:nvSpPr>
          <p:cNvPr id="31" name="Text 28"/>
          <p:cNvSpPr/>
          <p:nvPr/>
        </p:nvSpPr>
        <p:spPr>
          <a:xfrm>
            <a:off x="4498848" y="2615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 · T4 50 epochs</a:t>
            </a:r>
            <a:endParaRPr lang="en-US" sz="740" dirty="0"/>
          </a:p>
        </p:txBody>
      </p:sp>
      <p:sp>
        <p:nvSpPr>
          <p:cNvPr id="32" name="Text 29"/>
          <p:cNvSpPr/>
          <p:nvPr/>
        </p:nvSpPr>
        <p:spPr>
          <a:xfrm>
            <a:off x="4498848" y="30175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663440" y="30358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组控制变量实验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4498848" y="342900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663440" y="3447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学习率与 Mosaic 的边际影响</a:t>
            </a:r>
            <a:endParaRPr lang="en-US" sz="820" dirty="0"/>
          </a:p>
        </p:txBody>
      </p:sp>
      <p:sp>
        <p:nvSpPr>
          <p:cNvPr id="36" name="Text 33"/>
          <p:cNvSpPr/>
          <p:nvPr/>
        </p:nvSpPr>
        <p:spPr>
          <a:xfrm>
            <a:off x="4498848" y="384048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663440" y="3858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结论：优先补充数据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7973568" y="1737360"/>
            <a:ext cx="3493008" cy="2971800"/>
          </a:xfrm>
          <a:prstGeom prst="roundRect">
            <a:avLst>
              <a:gd name="adj" fmla="val 2154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7991856" y="1883664"/>
            <a:ext cx="41148" cy="2679192"/>
          </a:xfrm>
          <a:prstGeom prst="roundRect">
            <a:avLst>
              <a:gd name="adj" fmla="val 44444"/>
            </a:avLst>
          </a:prstGeom>
          <a:solidFill>
            <a:srgbClr val="C69BFF"/>
          </a:solidFill>
          <a:ln w="12700">
            <a:solidFill>
              <a:srgbClr val="C69BFF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156448" y="1865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b="1" kern="0" spc="140" dirty="0">
                <a:solidFill>
                  <a:srgbClr val="C6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760" dirty="0"/>
          </a:p>
        </p:txBody>
      </p:sp>
      <p:sp>
        <p:nvSpPr>
          <p:cNvPr id="41" name="Text 38"/>
          <p:cNvSpPr/>
          <p:nvPr/>
        </p:nvSpPr>
        <p:spPr>
          <a:xfrm>
            <a:off x="8595360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部署与交付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156448" y="2212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C6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 ms</a:t>
            </a:r>
            <a:endParaRPr lang="en-US" sz="2500" dirty="0"/>
          </a:p>
        </p:txBody>
      </p:sp>
      <p:sp>
        <p:nvSpPr>
          <p:cNvPr id="43" name="Text 40"/>
          <p:cNvSpPr/>
          <p:nvPr/>
        </p:nvSpPr>
        <p:spPr>
          <a:xfrm>
            <a:off x="8156448" y="2615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单张推理</a:t>
            </a:r>
            <a:endParaRPr lang="en-US" sz="740" dirty="0"/>
          </a:p>
        </p:txBody>
      </p:sp>
      <p:sp>
        <p:nvSpPr>
          <p:cNvPr id="44" name="Text 41"/>
          <p:cNvSpPr/>
          <p:nvPr/>
        </p:nvSpPr>
        <p:spPr>
          <a:xfrm>
            <a:off x="8156448" y="30175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321040" y="30358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12.2 MB · CPU 14.9 FPS</a:t>
            </a:r>
            <a:endParaRPr lang="en-US" sz="820" dirty="0"/>
          </a:p>
        </p:txBody>
      </p:sp>
      <p:sp>
        <p:nvSpPr>
          <p:cNvPr id="46" name="Text 43"/>
          <p:cNvSpPr/>
          <p:nvPr/>
        </p:nvSpPr>
        <p:spPr>
          <a:xfrm>
            <a:off x="8156448" y="342900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321040" y="3447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+ 预热，6 s → 80 ms</a:t>
            </a:r>
            <a:endParaRPr lang="en-US" sz="820" dirty="0"/>
          </a:p>
        </p:txBody>
      </p:sp>
      <p:sp>
        <p:nvSpPr>
          <p:cNvPr id="48" name="Text 45"/>
          <p:cNvSpPr/>
          <p:nvPr/>
        </p:nvSpPr>
        <p:spPr>
          <a:xfrm>
            <a:off x="8156448" y="384048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6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321040" y="3858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可上传图片，也可选测试集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658368" y="4956048"/>
            <a:ext cx="10863072" cy="749808"/>
          </a:xfrm>
          <a:prstGeom prst="roundRect">
            <a:avLst>
              <a:gd name="adj" fmla="val 8537"/>
            </a:avLst>
          </a:prstGeom>
          <a:solidFill>
            <a:srgbClr val="101D31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676656" y="5102352"/>
            <a:ext cx="41148" cy="457200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868680" y="5065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1828800" y="5029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2212848" y="5093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个脚本</a:t>
            </a:r>
            <a:endParaRPr lang="en-US" sz="740" dirty="0"/>
          </a:p>
        </p:txBody>
      </p:sp>
      <p:sp>
        <p:nvSpPr>
          <p:cNvPr id="55" name="Text 52"/>
          <p:cNvSpPr/>
          <p:nvPr/>
        </p:nvSpPr>
        <p:spPr>
          <a:xfrm>
            <a:off x="3108960" y="5029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3493008" y="5093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组实验</a:t>
            </a:r>
            <a:endParaRPr lang="en-US" sz="740" dirty="0"/>
          </a:p>
        </p:txBody>
      </p:sp>
      <p:sp>
        <p:nvSpPr>
          <p:cNvPr id="57" name="Text 54"/>
          <p:cNvSpPr/>
          <p:nvPr/>
        </p:nvSpPr>
        <p:spPr>
          <a:xfrm>
            <a:off x="4389120" y="5029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4773168" y="5093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 ONNX</a:t>
            </a:r>
            <a:endParaRPr lang="en-US" sz="740" dirty="0"/>
          </a:p>
        </p:txBody>
      </p:sp>
      <p:sp>
        <p:nvSpPr>
          <p:cNvPr id="59" name="Text 56"/>
          <p:cNvSpPr/>
          <p:nvPr/>
        </p:nvSpPr>
        <p:spPr>
          <a:xfrm>
            <a:off x="5669280" y="5029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053328" y="5093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个网页</a:t>
            </a:r>
            <a:endParaRPr lang="en-US" sz="740" dirty="0"/>
          </a:p>
        </p:txBody>
      </p:sp>
      <p:sp>
        <p:nvSpPr>
          <p:cNvPr id="61" name="Text 58"/>
          <p:cNvSpPr/>
          <p:nvPr/>
        </p:nvSpPr>
        <p:spPr>
          <a:xfrm>
            <a:off x="6949440" y="5029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7333488" y="5093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页报告</a:t>
            </a:r>
            <a:endParaRPr lang="en-US" sz="740" dirty="0"/>
          </a:p>
        </p:txBody>
      </p:sp>
      <p:sp>
        <p:nvSpPr>
          <p:cNvPr id="63" name="Text 60"/>
          <p:cNvSpPr/>
          <p:nvPr/>
        </p:nvSpPr>
        <p:spPr>
          <a:xfrm>
            <a:off x="8503920" y="5102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0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run_demo.bat 即可演示</a:t>
            </a:r>
            <a:endParaRPr lang="en-US" sz="820" dirty="0"/>
          </a:p>
        </p:txBody>
      </p:sp>
      <p:sp>
        <p:nvSpPr>
          <p:cNvPr id="64" name="Text 61"/>
          <p:cNvSpPr/>
          <p:nvPr/>
        </p:nvSpPr>
        <p:spPr>
          <a:xfrm>
            <a:off x="658368" y="5870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代码、报告和演示页面均已整理。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7863840" y="59253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seed，结果可复现</a:t>
            </a:r>
            <a:endParaRPr lang="en-US" sz="9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393192"/>
            <a:ext cx="237744" cy="23774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87552" y="338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4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NEXT  /  06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332720" y="3383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kern="0" spc="1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17 / 18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不足与改进方向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三组调参实验差距很小；后续工作优先补数据，再做量化。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10881360" cy="6401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" y="1549908"/>
            <a:ext cx="1417320" cy="16459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" y="6464808"/>
            <a:ext cx="10881360" cy="5486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5E74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· 姜瑞洋 · 202411009111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572000" y="6519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kern="0" spc="14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/ MASK DETECTION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737360"/>
            <a:ext cx="5074920" cy="3520440"/>
          </a:xfrm>
          <a:prstGeom prst="roundRect">
            <a:avLst>
              <a:gd name="adj" fmla="val 1818"/>
            </a:avLst>
          </a:prstGeom>
          <a:solidFill>
            <a:srgbClr val="0D1727"/>
          </a:solidFill>
          <a:ln w="10160">
            <a:solidFill>
              <a:srgbClr val="20314C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76656" y="1883664"/>
            <a:ext cx="41148" cy="3227832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68680" y="1847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当前不足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2258568"/>
            <a:ext cx="41148" cy="502920"/>
          </a:xfrm>
          <a:prstGeom prst="rect">
            <a:avLst/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24128" y="22402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数据场景单一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1024128" y="24871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以正脸、近照为主；侧脸、遮挡、暗光样本不足，泛化能力未验证。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868680" y="3200400"/>
            <a:ext cx="41148" cy="502920"/>
          </a:xfrm>
          <a:prstGeom prst="rect">
            <a:avLst/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24128" y="31821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速度还不到实时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1024128" y="342900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67 ms / 张 ≈ 14.9 FPS；实时 30 FPS 视频还差一截。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868680" y="4142232"/>
            <a:ext cx="41148" cy="502920"/>
          </a:xfrm>
          <a:prstGeom prst="rect">
            <a:avLst/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024128" y="41239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只做静态图片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1024128" y="437083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6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没有视频流、跟踪、计数去重；网页演示是单图推理。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6080760" y="1737360"/>
            <a:ext cx="5440680" cy="3520440"/>
          </a:xfrm>
          <a:prstGeom prst="roundRect">
            <a:avLst>
              <a:gd name="adj" fmla="val 1818"/>
            </a:avLst>
          </a:prstGeom>
          <a:solidFill>
            <a:srgbClr val="101D31"/>
          </a:solidFill>
          <a:ln w="10160">
            <a:solidFill>
              <a:srgbClr val="2C4163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099048" y="1883664"/>
            <a:ext cx="41148" cy="3227832"/>
          </a:xfrm>
          <a:prstGeom prst="roundRect">
            <a:avLst>
              <a:gd name="adj" fmla="val 44444"/>
            </a:avLst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281928" y="1847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改进计划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00216" y="22768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702552" y="22585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先补数据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7909560" y="2249424"/>
            <a:ext cx="841248" cy="201168"/>
          </a:xfrm>
          <a:prstGeom prst="roundRect">
            <a:avLst>
              <a:gd name="adj" fmla="val 59091"/>
            </a:avLst>
          </a:prstGeom>
          <a:solidFill>
            <a:srgbClr val="38E8C6">
              <a:alpha val="10000"/>
            </a:srgbClr>
          </a:solidFill>
          <a:ln w="7620">
            <a:solidFill>
              <a:srgbClr val="38E8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909560" y="22494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38E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最高性价比</a:t>
            </a:r>
            <a:endParaRPr lang="en-US" sz="610" dirty="0"/>
          </a:p>
        </p:txBody>
      </p:sp>
      <p:sp>
        <p:nvSpPr>
          <p:cNvPr id="33" name="Text 30"/>
          <p:cNvSpPr/>
          <p:nvPr/>
        </p:nvSpPr>
        <p:spPr>
          <a:xfrm>
            <a:off x="6702552" y="25328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收集侧脸、遮挡、暗光、不同口罩类型；做硬例挖掘，再重训一版。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6300216" y="3017520"/>
            <a:ext cx="4983480" cy="4572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300216" y="3172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02552" y="3154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再压模型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7909560" y="3145536"/>
            <a:ext cx="841248" cy="201168"/>
          </a:xfrm>
          <a:prstGeom prst="roundRect">
            <a:avLst>
              <a:gd name="adj" fmla="val 59091"/>
            </a:avLst>
          </a:prstGeom>
          <a:solidFill>
            <a:srgbClr val="6C9BFF">
              <a:alpha val="10000"/>
            </a:srgbClr>
          </a:solidFill>
          <a:ln w="7620">
            <a:solidFill>
              <a:srgbClr val="6C9B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909560" y="31455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6C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工程优化</a:t>
            </a:r>
            <a:endParaRPr lang="en-US" sz="610" dirty="0"/>
          </a:p>
        </p:txBody>
      </p:sp>
      <p:sp>
        <p:nvSpPr>
          <p:cNvPr id="39" name="Text 36"/>
          <p:cNvSpPr/>
          <p:nvPr/>
        </p:nvSpPr>
        <p:spPr>
          <a:xfrm>
            <a:off x="6702552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 YOLOv8s/m 找精度-速度平衡；INT8 量化把 CPU 推理再压一半。</a:t>
            </a:r>
            <a:endParaRPr lang="en-US" sz="740" dirty="0"/>
          </a:p>
        </p:txBody>
      </p:sp>
      <p:sp>
        <p:nvSpPr>
          <p:cNvPr id="40" name="Shape 37"/>
          <p:cNvSpPr/>
          <p:nvPr/>
        </p:nvSpPr>
        <p:spPr>
          <a:xfrm>
            <a:off x="6300216" y="3913632"/>
            <a:ext cx="4983480" cy="4572"/>
          </a:xfrm>
          <a:prstGeom prst="rect">
            <a:avLst/>
          </a:prstGeom>
          <a:solidFill>
            <a:srgbClr val="20314C"/>
          </a:solidFill>
          <a:ln w="12700">
            <a:solidFill>
              <a:srgbClr val="20314C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6300216" y="4069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6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702552" y="4050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最后上视频</a:t>
            </a:r>
            <a:endParaRPr lang="en-US" sz="980" dirty="0"/>
          </a:p>
        </p:txBody>
      </p:sp>
      <p:sp>
        <p:nvSpPr>
          <p:cNvPr id="43" name="Shape 40"/>
          <p:cNvSpPr/>
          <p:nvPr/>
        </p:nvSpPr>
        <p:spPr>
          <a:xfrm>
            <a:off x="7909560" y="4041648"/>
            <a:ext cx="841248" cy="201168"/>
          </a:xfrm>
          <a:prstGeom prst="roundRect">
            <a:avLst>
              <a:gd name="adj" fmla="val 59091"/>
            </a:avLst>
          </a:prstGeom>
          <a:solidFill>
            <a:srgbClr val="C69BFF">
              <a:alpha val="10000"/>
            </a:srgbClr>
          </a:solidFill>
          <a:ln w="7620">
            <a:solidFill>
              <a:srgbClr val="C69B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7909560" y="404164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C6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场景扩展</a:t>
            </a:r>
            <a:endParaRPr lang="en-US" sz="610" dirty="0"/>
          </a:p>
        </p:txBody>
      </p:sp>
      <p:sp>
        <p:nvSpPr>
          <p:cNvPr id="45" name="Text 42"/>
          <p:cNvSpPr/>
          <p:nvPr/>
        </p:nvSpPr>
        <p:spPr>
          <a:xfrm>
            <a:off x="6702552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4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 ONNX Runtime GPU / TensorRT，做视频流检测与简单跟踪。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658368" y="5504688"/>
            <a:ext cx="10863072" cy="640080"/>
          </a:xfrm>
          <a:prstGeom prst="roundRect">
            <a:avLst>
              <a:gd name="adj" fmla="val 10000"/>
            </a:avLst>
          </a:prstGeom>
          <a:solidFill>
            <a:srgbClr val="0D1727"/>
          </a:solidFill>
          <a:ln w="10160">
            <a:solidFill>
              <a:srgbClr val="2C4163"/>
            </a:solidFill>
            <a:prstDash val="solid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676656" y="5650992"/>
            <a:ext cx="41148" cy="347472"/>
          </a:xfrm>
          <a:prstGeom prst="roundRect">
            <a:avLst>
              <a:gd name="adj" fmla="val 44444"/>
            </a:avLst>
          </a:prstGeom>
          <a:solidFill>
            <a:srgbClr val="F2B36B"/>
          </a:solidFill>
          <a:ln w="12700">
            <a:solidFill>
              <a:srgbClr val="F2B36B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868680" y="561441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优先补数据，再做 INT8 量化；继续调参的收益有限。</a:t>
            </a:r>
            <a:endParaRPr lang="en-US" sz="11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accel="50000" decel="5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accel="50000" decel="5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3070\Documents\Python_study\school_project\yolo_v8_project\期末汇报_PPT\ppt_assets\bg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13070\Documents\Python_study\school_project\yolo_v8_project\期末汇报_PPT\ppt_assets\cover_photo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49640" y="0"/>
            <a:ext cx="3639312" cy="6858000"/>
          </a:xfrm>
          <a:prstGeom prst="rect">
            <a:avLst/>
          </a:prstGeom>
        </p:spPr>
      </p:pic>
      <p:pic>
        <p:nvPicPr>
          <p:cNvPr id="4" name="Image 2" descr="C:\Users\13070\Documents\Python_study\school_project\yolo_v8_project\期末汇报_PPT\ppt_assets\cover_f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0"/>
            <a:ext cx="237744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240" y="11704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20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THANK YOU  /  Q&amp;A</a:t>
            </a:r>
            <a:endParaRPr lang="en-US" sz="900" dirty="0"/>
          </a:p>
        </p:txBody>
      </p:sp>
      <p:sp>
        <p:nvSpPr>
          <p:cNvPr id="6" name="Shape 1"/>
          <p:cNvSpPr/>
          <p:nvPr/>
        </p:nvSpPr>
        <p:spPr>
          <a:xfrm>
            <a:off x="777240" y="1517904"/>
            <a:ext cx="502920" cy="22860"/>
          </a:xfrm>
          <a:prstGeom prst="rect">
            <a:avLst/>
          </a:prstGeom>
          <a:solidFill>
            <a:srgbClr val="38E8C6"/>
          </a:solidFill>
          <a:ln w="12700">
            <a:solidFill>
              <a:srgbClr val="38E8C6"/>
            </a:solidFill>
            <a:prstDash val="solid"/>
          </a:ln>
        </p:spPr>
        <p:txBody>
          <a:bodyPr/>
          <a:p/>
        </p:txBody>
      </p:sp>
      <p:sp>
        <p:nvSpPr>
          <p:cNvPr id="7" name="Text 2"/>
          <p:cNvSpPr/>
          <p:nvPr/>
        </p:nvSpPr>
        <p:spPr>
          <a:xfrm>
            <a:off x="731520" y="18288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5000" dirty="0"/>
          </a:p>
        </p:txBody>
      </p:sp>
      <p:sp>
        <p:nvSpPr>
          <p:cNvPr id="8" name="Text 3"/>
          <p:cNvSpPr/>
          <p:nvPr/>
        </p:nvSpPr>
        <p:spPr>
          <a:xfrm>
            <a:off x="777240" y="27614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恳请老师批评指正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77240" y="4892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AF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刘淏荣  ·  姜瑞洋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777240" y="51846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202411009111  ·  人工智能软件开发  ·  2026 年 10 月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77240" y="56692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8E8C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0.897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719072" y="57515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mAP@50</a:t>
            </a:r>
            <a:endParaRPr lang="en-US" sz="720" dirty="0"/>
          </a:p>
        </p:txBody>
      </p:sp>
      <p:sp>
        <p:nvSpPr>
          <p:cNvPr id="13" name="Text 8"/>
          <p:cNvSpPr/>
          <p:nvPr/>
        </p:nvSpPr>
        <p:spPr>
          <a:xfrm>
            <a:off x="2606040" y="56692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C9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 ms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502152" y="57515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kern="0" spc="80" dirty="0">
                <a:solidFill>
                  <a:srgbClr val="5E749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WEB INFERENCE</a:t>
            </a:r>
            <a:endParaRPr lang="en-US" sz="720" dirty="0"/>
          </a:p>
        </p:txBody>
      </p:sp>
      <p:sp>
        <p:nvSpPr>
          <p:cNvPr id="15" name="Text 10"/>
          <p:cNvSpPr/>
          <p:nvPr/>
        </p:nvSpPr>
        <p:spPr>
          <a:xfrm>
            <a:off x="4663440" y="5650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项目文件与演示页面已整理完毕。</a:t>
            </a:r>
            <a:endParaRPr lang="en-US" sz="10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2404</Words>
  <Application>Microsoft Office PowerPoint</Application>
  <PresentationFormat>宽屏</PresentationFormat>
  <Paragraphs>563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Microsoft YaHei</vt:lpstr>
      <vt:lpstr>Arial</vt:lpstr>
      <vt:lpstr>Bahnschrift</vt:lpstr>
      <vt:lpstr>Cascadia Code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人工智能软件开发课程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YOLOv8 的口罩佩戴检测系统</dc:title>
  <dc:subject>基于 YOLOv8 的口罩佩戴检测系统</dc:subject>
  <dc:creator>刘淏荣、姜瑞洋</dc:creator>
  <cp:lastModifiedBy>badboy _</cp:lastModifiedBy>
  <cp:revision>3</cp:revision>
  <dcterms:created xsi:type="dcterms:W3CDTF">2026-10-21T07:06:33Z</dcterms:created>
  <dcterms:modified xsi:type="dcterms:W3CDTF">2026-10-21T17:09:48Z</dcterms:modified>
</cp:coreProperties>
</file>